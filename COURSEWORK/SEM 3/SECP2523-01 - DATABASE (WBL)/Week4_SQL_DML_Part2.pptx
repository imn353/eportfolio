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4"/>
  </p:notesMasterIdLst>
  <p:sldIdLst>
    <p:sldId id="256" r:id="rId2"/>
    <p:sldId id="257" r:id="rId3"/>
    <p:sldId id="260" r:id="rId4"/>
    <p:sldId id="261" r:id="rId5"/>
    <p:sldId id="263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1" r:id="rId14"/>
    <p:sldId id="270" r:id="rId15"/>
    <p:sldId id="272" r:id="rId16"/>
    <p:sldId id="273" r:id="rId17"/>
    <p:sldId id="275" r:id="rId18"/>
    <p:sldId id="274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7" r:id="rId30"/>
    <p:sldId id="289" r:id="rId31"/>
    <p:sldId id="288" r:id="rId32"/>
    <p:sldId id="290" r:id="rId33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E2A22F"/>
    <a:srgbClr val="404040"/>
    <a:srgbClr val="830E3E"/>
    <a:srgbClr val="4472C4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47" autoAdjust="0"/>
    <p:restoredTop sz="94660"/>
  </p:normalViewPr>
  <p:slideViewPr>
    <p:cSldViewPr snapToGrid="0">
      <p:cViewPr varScale="1">
        <p:scale>
          <a:sx n="87" d="100"/>
          <a:sy n="87" d="100"/>
        </p:scale>
        <p:origin x="17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601B227-C5DD-42A9-885A-868F9890B7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B4FA1B-0D92-44F8-9D7E-4D924C2E875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1CB005FD-FC8B-4FF4-955B-7EA50B8B0663}" type="datetimeFigureOut">
              <a:rPr lang="en-MY"/>
              <a:pPr>
                <a:defRPr/>
              </a:pPr>
              <a:t>8/12/2024</a:t>
            </a:fld>
            <a:endParaRPr lang="en-MY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126FF30-1EDB-4B9A-9004-59CE60D117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MY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8D1CDA5-0683-4ACB-BE1F-D5412D5700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MY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E5E67-C759-4F49-A274-211144B76F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6AEF6-2055-4B1F-9EC0-AB730726BD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77D76A01-9653-4E88-A0A9-E9EA91B8AD2B}" type="slidenum">
              <a:rPr lang="en-MY"/>
              <a:pPr>
                <a:defRPr/>
              </a:pPr>
              <a:t>‹#›</a:t>
            </a:fld>
            <a:endParaRPr lang="en-M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000" b="1">
                <a:solidFill>
                  <a:srgbClr val="830E3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DD27-DA1F-487E-817E-399ACBA02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26817-A05E-438E-B03D-9EF62547D467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D98ED-FDF2-4B39-88F6-5187562EE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487A3-A2D5-4F63-A954-9D3C2243D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02A6F-F68E-42AE-AE2F-753F71817D8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492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E49C5-03BF-4162-AE89-C5DF2DF30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C092DC-BE98-4A17-960A-B537072312A6}" type="datetime5">
              <a:rPr lang="en-US" smtClean="0"/>
              <a:t>8-Dec-24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FA835-549D-4400-A0B5-AFCBD9028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EEF2DB-3D68-4EFF-B92B-90C34555BE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7AE1058-8EE2-49BA-A59A-9752C21FCD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604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8C453-5DCC-4FDD-93D6-46B4D94E3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A2C70D-0DE7-45BB-9023-E04FBA9A1FDE}" type="datetime5">
              <a:rPr lang="en-US" smtClean="0"/>
              <a:t>8-Dec-24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82C87-880B-4005-94A7-87592F5DA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D5586-745C-4D1D-AC0D-50A29C310C5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C1A77CA-9506-4B5A-8B71-48B4827257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78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DE1E2D5-E474-4176-BC16-12C1A0EA8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03D800-9445-41A3-845A-B6B2803F4E91}" type="datetime5">
              <a:rPr lang="en-US" smtClean="0"/>
              <a:t>8-Dec-24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785D20D-E09B-4B2B-B71A-50B1C40CC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469A2C-1C93-4A5E-AA86-D928C00BCD9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8982DBB-C883-4892-88FA-FA17BDF214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030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3F86404-7EB6-43E2-9ED0-4D6E54325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9C032-09C8-4AFD-8005-E2000448FC42}" type="datetime5">
              <a:rPr lang="en-US" smtClean="0"/>
              <a:t>8-Dec-24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1C459ED-8DD4-4C80-9E30-C282075A3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7D458-EF61-4B7E-AFE9-875D2476F5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33EB583-3B05-4690-8EC8-104C8F20723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368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A385378-D36F-4CA0-B4E6-0D64D90D2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0EF99-E5E3-4E2C-AEF6-58255D6AE9AB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2FA8B4B-8553-4B63-A1A5-CDBF9C543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E95FEE-A042-4E46-858D-E255F286AFA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BE98A5D-D61A-455C-85B5-17072AFF29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616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DFC7E19-8E31-44CA-A200-4706B3B81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6C30E-3BF2-4B8B-A9B2-9180CB575D96}" type="datetime5">
              <a:rPr lang="en-US" smtClean="0"/>
              <a:t>8-Dec-24</a:t>
            </a:fld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786ACD4-7958-4067-B2A3-63A418766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22C836-3674-4059-90D2-D86E3DE58AF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04349-B572-475D-A87F-4CB822C271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125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E77D0C8-CD7E-45CC-BA3B-147E6C765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00C29D-4A95-41F6-9EC0-50A697195434}" type="datetime5">
              <a:rPr lang="en-US" smtClean="0"/>
              <a:t>8-Dec-24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846B8B-EA1E-46B5-B006-BB938D776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6BA56-7896-42D5-8307-DADE9CA6683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A713F4E-4145-476F-B9CD-97976D749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803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19B96D3-6585-48A0-ACA3-05D1D32C8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9E4A14-A6E7-4394-9CCC-4E8D3EEECF03}" type="datetime5">
              <a:rPr lang="en-US" smtClean="0"/>
              <a:t>8-Dec-24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FC74A05-5B6F-4412-9E03-E3B6C2B9A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612DB0-978D-4D16-877F-1B531896CD6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0B067D8-7D56-493C-B98A-37A7F11F06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696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2624F-2133-4FB1-B246-F7DD5614A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47E6A1-B20B-4590-A059-D691B54EAED3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5AE3E-155E-400D-B4B7-8FFF0614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SQL DML Part I (ii)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51D4B-D698-4153-91A5-0E69E8083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04142B-9149-44AD-9D92-D86EB0C2BF7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678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95F60-B9B9-4574-A727-7CC1432E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33B9A9-F818-4772-8746-144CB3EEBC9F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1E341-8449-4B72-8E7D-BD25BECDB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SQL DML Part I (ii)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30A1B-1C21-4568-93F0-80A761706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31EE60-E854-4E7C-BF7C-54A65C2A0E6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047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2">
            <a:extLst>
              <a:ext uri="{FF2B5EF4-FFF2-40B4-BE49-F238E27FC236}">
                <a16:creationId xmlns:a16="http://schemas.microsoft.com/office/drawing/2014/main" id="{D3998E24-2500-4EE8-8DF6-49EE2D074E2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CC80267F-A92A-4204-B744-CC62DD7975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496B58B4-B809-42E1-BAFB-FC82420787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5D9BC-4A37-40FD-9C1F-03BD4BB2B1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1457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2EFAB677-5B77-4272-B04B-C9B50D917E19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5B9F2-66D7-4B3C-B584-01E90ABDD4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SQL DML Part I (ii)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C4EFB-7E5F-491F-AC54-4A69FD6022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378DD1A9-E041-452A-A8AB-5B84301EF84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rgbClr val="830E3E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389861A8-3AE3-4E57-96FA-A873E9ECC5A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143000" y="2245809"/>
            <a:ext cx="6858000" cy="1564716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MY" altLang="en-US" sz="4200" dirty="0"/>
              <a:t>SQL: Data Manipulation Language (DML) Part 2</a:t>
            </a:r>
          </a:p>
        </p:txBody>
      </p:sp>
      <p:sp>
        <p:nvSpPr>
          <p:cNvPr id="3075" name="Subtitle 2">
            <a:extLst>
              <a:ext uri="{FF2B5EF4-FFF2-40B4-BE49-F238E27FC236}">
                <a16:creationId xmlns:a16="http://schemas.microsoft.com/office/drawing/2014/main" id="{5F7B744B-CD24-4AA1-9632-D58B9C01222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143000" y="3947050"/>
            <a:ext cx="6858000" cy="572583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MY" altLang="en-US" b="1" dirty="0"/>
              <a:t>SECP2523 DATABASE</a:t>
            </a:r>
          </a:p>
        </p:txBody>
      </p:sp>
      <p:sp>
        <p:nvSpPr>
          <p:cNvPr id="72" name="Freeform 14">
            <a:extLst>
              <a:ext uri="{FF2B5EF4-FFF2-40B4-BE49-F238E27FC236}">
                <a16:creationId xmlns:a16="http://schemas.microsoft.com/office/drawing/2014/main" id="{C66F2F30-5DC0-44A0-BFA6-E12F46ED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440464" cy="2130951"/>
          </a:xfrm>
          <a:custGeom>
            <a:avLst/>
            <a:gdLst>
              <a:gd name="connsiteX0" fmla="*/ 0 w 5920619"/>
              <a:gd name="connsiteY0" fmla="*/ 0 h 2130951"/>
              <a:gd name="connsiteX1" fmla="*/ 3191370 w 5920619"/>
              <a:gd name="connsiteY1" fmla="*/ 0 h 2130951"/>
              <a:gd name="connsiteX2" fmla="*/ 3346315 w 5920619"/>
              <a:gd name="connsiteY2" fmla="*/ 0 h 2130951"/>
              <a:gd name="connsiteX3" fmla="*/ 5920619 w 5920619"/>
              <a:gd name="connsiteY3" fmla="*/ 0 h 2130951"/>
              <a:gd name="connsiteX4" fmla="*/ 4936971 w 5920619"/>
              <a:gd name="connsiteY4" fmla="*/ 2130951 h 2130951"/>
              <a:gd name="connsiteX5" fmla="*/ 0 w 5920619"/>
              <a:gd name="connsiteY5" fmla="*/ 2130951 h 2130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20619" h="2130951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9" y="0"/>
                </a:lnTo>
                <a:lnTo>
                  <a:pt x="4936971" y="2130951"/>
                </a:lnTo>
                <a:lnTo>
                  <a:pt x="0" y="213095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4" name="Freeform 21">
            <a:extLst>
              <a:ext uri="{FF2B5EF4-FFF2-40B4-BE49-F238E27FC236}">
                <a16:creationId xmlns:a16="http://schemas.microsoft.com/office/drawing/2014/main" id="{85872F57-7F42-4F97-8391-DDC8D0054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3379" y="0"/>
            <a:ext cx="5320620" cy="2130952"/>
          </a:xfrm>
          <a:custGeom>
            <a:avLst/>
            <a:gdLst>
              <a:gd name="connsiteX0" fmla="*/ 4417853 w 7094160"/>
              <a:gd name="connsiteY0" fmla="*/ 0 h 2130952"/>
              <a:gd name="connsiteX1" fmla="*/ 7094160 w 7094160"/>
              <a:gd name="connsiteY1" fmla="*/ 0 h 2130952"/>
              <a:gd name="connsiteX2" fmla="*/ 7094160 w 7094160"/>
              <a:gd name="connsiteY2" fmla="*/ 2130552 h 2130952"/>
              <a:gd name="connsiteX3" fmla="*/ 5920619 w 7094160"/>
              <a:gd name="connsiteY3" fmla="*/ 2130552 h 2130952"/>
              <a:gd name="connsiteX4" fmla="*/ 5920619 w 7094160"/>
              <a:gd name="connsiteY4" fmla="*/ 2130952 h 2130952"/>
              <a:gd name="connsiteX5" fmla="*/ 2729249 w 7094160"/>
              <a:gd name="connsiteY5" fmla="*/ 2130952 h 2130952"/>
              <a:gd name="connsiteX6" fmla="*/ 2574304 w 7094160"/>
              <a:gd name="connsiteY6" fmla="*/ 2130952 h 2130952"/>
              <a:gd name="connsiteX7" fmla="*/ 0 w 7094160"/>
              <a:gd name="connsiteY7" fmla="*/ 2130952 h 2130952"/>
              <a:gd name="connsiteX8" fmla="*/ 983648 w 7094160"/>
              <a:gd name="connsiteY8" fmla="*/ 1 h 2130952"/>
              <a:gd name="connsiteX9" fmla="*/ 4417853 w 7094160"/>
              <a:gd name="connsiteY9" fmla="*/ 1 h 2130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094160" h="2130952">
                <a:moveTo>
                  <a:pt x="4417853" y="0"/>
                </a:moveTo>
                <a:lnTo>
                  <a:pt x="7094160" y="0"/>
                </a:lnTo>
                <a:lnTo>
                  <a:pt x="7094160" y="2130552"/>
                </a:lnTo>
                <a:lnTo>
                  <a:pt x="5920619" y="2130552"/>
                </a:lnTo>
                <a:lnTo>
                  <a:pt x="5920619" y="2130952"/>
                </a:lnTo>
                <a:lnTo>
                  <a:pt x="2729249" y="2130952"/>
                </a:lnTo>
                <a:lnTo>
                  <a:pt x="2574304" y="2130952"/>
                </a:lnTo>
                <a:lnTo>
                  <a:pt x="0" y="2130952"/>
                </a:lnTo>
                <a:lnTo>
                  <a:pt x="983648" y="1"/>
                </a:lnTo>
                <a:lnTo>
                  <a:pt x="4417853" y="1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6" name="Freeform: Shape 75">
            <a:extLst>
              <a:ext uri="{FF2B5EF4-FFF2-40B4-BE49-F238E27FC236}">
                <a16:creationId xmlns:a16="http://schemas.microsoft.com/office/drawing/2014/main" id="{04DC2037-48A0-4F22-B9D4-8EAEBC78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2290" y="4682920"/>
            <a:ext cx="3392097" cy="2175080"/>
          </a:xfrm>
          <a:custGeom>
            <a:avLst/>
            <a:gdLst>
              <a:gd name="connsiteX0" fmla="*/ 3515449 w 4522796"/>
              <a:gd name="connsiteY0" fmla="*/ 0 h 2175080"/>
              <a:gd name="connsiteX1" fmla="*/ 0 w 4522796"/>
              <a:gd name="connsiteY1" fmla="*/ 0 h 2175080"/>
              <a:gd name="connsiteX2" fmla="*/ 0 w 4522796"/>
              <a:gd name="connsiteY2" fmla="*/ 2175080 h 2175080"/>
              <a:gd name="connsiteX3" fmla="*/ 4522796 w 4522796"/>
              <a:gd name="connsiteY3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2796" h="2175080">
                <a:moveTo>
                  <a:pt x="3515449" y="0"/>
                </a:moveTo>
                <a:lnTo>
                  <a:pt x="0" y="0"/>
                </a:lnTo>
                <a:lnTo>
                  <a:pt x="0" y="2175080"/>
                </a:lnTo>
                <a:lnTo>
                  <a:pt x="4522796" y="217508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/>
          </a:p>
        </p:txBody>
      </p:sp>
      <p:sp>
        <p:nvSpPr>
          <p:cNvPr id="78" name="Freeform 22">
            <a:extLst>
              <a:ext uri="{FF2B5EF4-FFF2-40B4-BE49-F238E27FC236}">
                <a16:creationId xmlns:a16="http://schemas.microsoft.com/office/drawing/2014/main" id="{0006CBFD-ADA0-43D1-9332-9C34CA1C7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0107" y="4682920"/>
            <a:ext cx="4443893" cy="2175080"/>
          </a:xfrm>
          <a:custGeom>
            <a:avLst/>
            <a:gdLst>
              <a:gd name="connsiteX0" fmla="*/ 1007347 w 5925190"/>
              <a:gd name="connsiteY0" fmla="*/ 0 h 2175080"/>
              <a:gd name="connsiteX1" fmla="*/ 5925190 w 5925190"/>
              <a:gd name="connsiteY1" fmla="*/ 0 h 2175080"/>
              <a:gd name="connsiteX2" fmla="*/ 5925190 w 5925190"/>
              <a:gd name="connsiteY2" fmla="*/ 2175080 h 2175080"/>
              <a:gd name="connsiteX3" fmla="*/ 0 w 5925190"/>
              <a:gd name="connsiteY3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5190" h="2175080">
                <a:moveTo>
                  <a:pt x="1007347" y="0"/>
                </a:moveTo>
                <a:lnTo>
                  <a:pt x="5925190" y="0"/>
                </a:lnTo>
                <a:lnTo>
                  <a:pt x="5925190" y="2175080"/>
                </a:lnTo>
                <a:lnTo>
                  <a:pt x="0" y="217508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0" name="Freeform 25">
            <a:extLst>
              <a:ext uri="{FF2B5EF4-FFF2-40B4-BE49-F238E27FC236}">
                <a16:creationId xmlns:a16="http://schemas.microsoft.com/office/drawing/2014/main" id="{2B931666-F28F-45F3-A074-66D2272D5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2920"/>
            <a:ext cx="5335901" cy="2175080"/>
          </a:xfrm>
          <a:custGeom>
            <a:avLst/>
            <a:gdLst>
              <a:gd name="connsiteX0" fmla="*/ 0 w 7114535"/>
              <a:gd name="connsiteY0" fmla="*/ 0 h 2175080"/>
              <a:gd name="connsiteX1" fmla="*/ 1189345 w 7114535"/>
              <a:gd name="connsiteY1" fmla="*/ 0 h 2175080"/>
              <a:gd name="connsiteX2" fmla="*/ 7114535 w 7114535"/>
              <a:gd name="connsiteY2" fmla="*/ 0 h 2175080"/>
              <a:gd name="connsiteX3" fmla="*/ 6107188 w 7114535"/>
              <a:gd name="connsiteY3" fmla="*/ 2175080 h 2175080"/>
              <a:gd name="connsiteX4" fmla="*/ 1189345 w 7114535"/>
              <a:gd name="connsiteY4" fmla="*/ 2175080 h 2175080"/>
              <a:gd name="connsiteX5" fmla="*/ 0 w 7114535"/>
              <a:gd name="connsiteY5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4535" h="2175080">
                <a:moveTo>
                  <a:pt x="0" y="0"/>
                </a:moveTo>
                <a:lnTo>
                  <a:pt x="1189345" y="0"/>
                </a:lnTo>
                <a:lnTo>
                  <a:pt x="7114535" y="0"/>
                </a:lnTo>
                <a:lnTo>
                  <a:pt x="6107188" y="2175080"/>
                </a:lnTo>
                <a:lnTo>
                  <a:pt x="1189345" y="2175080"/>
                </a:lnTo>
                <a:lnTo>
                  <a:pt x="0" y="2175080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32D7C-6AE9-4223-ACD5-0FF559D92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022" y="365760"/>
            <a:ext cx="7025402" cy="1188720"/>
          </a:xfrm>
        </p:spPr>
        <p:txBody>
          <a:bodyPr>
            <a:normAutofit/>
          </a:bodyPr>
          <a:lstStyle/>
          <a:p>
            <a:r>
              <a:rPr lang="en-MY" dirty="0"/>
              <a:t>Learning Objective</a:t>
            </a:r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23075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0"/>
            <a:ext cx="9144000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728740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86595-E448-444E-A2E8-6920B4F76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0022" y="2176272"/>
            <a:ext cx="7025403" cy="4041648"/>
          </a:xfrm>
        </p:spPr>
        <p:txBody>
          <a:bodyPr anchor="t">
            <a:normAutofit/>
          </a:bodyPr>
          <a:lstStyle/>
          <a:p>
            <a:r>
              <a:rPr lang="en-US" dirty="0"/>
              <a:t>At the end of the topic, students are able to:</a:t>
            </a:r>
          </a:p>
          <a:p>
            <a:pPr lvl="1"/>
            <a:r>
              <a:rPr lang="en-US" sz="2400" dirty="0"/>
              <a:t>Write DML statements that uses the followings:</a:t>
            </a:r>
          </a:p>
          <a:p>
            <a:pPr lvl="2"/>
            <a:r>
              <a:rPr lang="en-US" sz="2400" b="1" dirty="0"/>
              <a:t>COUNT, SUM, AVG. MIN, MAX</a:t>
            </a:r>
          </a:p>
          <a:p>
            <a:pPr lvl="2"/>
            <a:r>
              <a:rPr lang="en-US" sz="2400" b="1" dirty="0"/>
              <a:t>GROUP BY</a:t>
            </a:r>
          </a:p>
          <a:p>
            <a:pPr lvl="2"/>
            <a:r>
              <a:rPr lang="en-US" sz="2400" b="1" dirty="0"/>
              <a:t>HAVING</a:t>
            </a:r>
          </a:p>
          <a:p>
            <a:pPr lvl="1"/>
            <a:r>
              <a:rPr lang="en-US" sz="2400" dirty="0"/>
              <a:t>Subqueries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5AEA0-A597-4B84-AA46-E9DBE853AC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36407" y="6356350"/>
            <a:ext cx="144735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9871AA26-1F1D-4B56-9944-2E40C3EB6687}" type="datetime5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8-Dec-24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B3EBB-6E5B-4CD9-810C-21FEC92E1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08025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schemeClr val="tx1">
                    <a:alpha val="80000"/>
                  </a:schemeClr>
                </a:solidFill>
              </a:rPr>
              <a:t>SCSD2523 Database - SQL DML Part I (ii)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9C0544-3C57-406C-875F-67E032406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18386" y="6356350"/>
            <a:ext cx="144703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4AEEF2DB-3D68-4EFF-B92B-90C34555BE45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2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805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72E43-80A4-477D-ACEF-6DD9CEC7A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Numeric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B2BB4-26E9-44E6-A0D4-1CA98B7AA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830E3E"/>
                </a:solidFill>
              </a:rPr>
              <a:t>ROUND</a:t>
            </a:r>
            <a:r>
              <a:rPr lang="en-US" dirty="0"/>
              <a:t>: Rounds value to specified decimal</a:t>
            </a:r>
          </a:p>
          <a:p>
            <a:r>
              <a:rPr lang="en-US" b="1" dirty="0">
                <a:solidFill>
                  <a:srgbClr val="830E3E"/>
                </a:solidFill>
              </a:rPr>
              <a:t>TRUNCATE</a:t>
            </a:r>
            <a:r>
              <a:rPr lang="en-US" dirty="0"/>
              <a:t>: Truncates value to specified decimal</a:t>
            </a:r>
          </a:p>
          <a:p>
            <a:r>
              <a:rPr lang="en-US" b="1" dirty="0">
                <a:solidFill>
                  <a:srgbClr val="830E3E"/>
                </a:solidFill>
              </a:rPr>
              <a:t>MOD</a:t>
            </a:r>
            <a:r>
              <a:rPr lang="en-US" dirty="0"/>
              <a:t>: Returns remainder of division (modulus)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D293B-512B-465B-B2DF-2BCFD230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36B6ED-9AD3-4B71-9106-8266285CAC6C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9971DD-622A-424D-AD5E-A0C49D03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BC10FF9-B577-4816-8DCE-56B97B4EF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152654"/>
              </p:ext>
            </p:extLst>
          </p:nvPr>
        </p:nvGraphicFramePr>
        <p:xfrm>
          <a:off x="1162050" y="3073400"/>
          <a:ext cx="6967342" cy="3048000"/>
        </p:xfrm>
        <a:graphic>
          <a:graphicData uri="http://schemas.openxmlformats.org/drawingml/2006/table">
            <a:tbl>
              <a:tblPr/>
              <a:tblGrid>
                <a:gridCol w="5451692">
                  <a:extLst>
                    <a:ext uri="{9D8B030D-6E8A-4147-A177-3AD203B41FA5}">
                      <a16:colId xmlns:a16="http://schemas.microsoft.com/office/drawing/2014/main" val="1809980602"/>
                    </a:ext>
                  </a:extLst>
                </a:gridCol>
                <a:gridCol w="1515650">
                  <a:extLst>
                    <a:ext uri="{9D8B030D-6E8A-4147-A177-3AD203B41FA5}">
                      <a16:colId xmlns:a16="http://schemas.microsoft.com/office/drawing/2014/main" val="1379419685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FUNCTION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RESULT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323189"/>
                  </a:ext>
                </a:extLst>
              </a:tr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ROUND(45.926, 2)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0" lang="en-MY" alt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st</a:t>
                      </a: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parameter: the value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0" lang="en-MY" alt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nd</a:t>
                      </a: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parameter: number of decimal places to round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45.93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834383"/>
                  </a:ext>
                </a:extLst>
              </a:tr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TRUNC(45.926, 2)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0" lang="en-MY" alt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st</a:t>
                      </a: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parameter: the value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0" lang="en-MY" alt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nd</a:t>
                      </a: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parameter: number of decimal places to truncate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45.92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162503"/>
                  </a:ext>
                </a:extLst>
              </a:tr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MOD(1600, 300)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192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5907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B28DA-A33C-48CC-BB42-47376C6A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0070C0"/>
                </a:solidFill>
              </a:rPr>
              <a:t>TRUNC</a:t>
            </a:r>
            <a:r>
              <a:rPr lang="en-MY" dirty="0"/>
              <a:t> (Oracle) / </a:t>
            </a:r>
            <a:r>
              <a:rPr lang="en-MY" dirty="0">
                <a:solidFill>
                  <a:srgbClr val="0070C0"/>
                </a:solidFill>
              </a:rPr>
              <a:t>TRUNCATE</a:t>
            </a:r>
            <a:r>
              <a:rPr lang="en-MY" dirty="0"/>
              <a:t> (MySQL)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CBAD1-F3F3-48B2-8A3F-8B470F889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of using </a:t>
            </a:r>
            <a:r>
              <a:rPr lang="en-US" b="1" dirty="0">
                <a:solidFill>
                  <a:srgbClr val="830E3E"/>
                </a:solidFill>
              </a:rPr>
              <a:t>TRUNC/TRUNCATE</a:t>
            </a:r>
            <a:r>
              <a:rPr lang="en-US" dirty="0"/>
              <a:t>: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7F17E-ABFF-46E1-B87B-4480B7EC9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792880-B57E-440D-B9A8-83F0770B7B62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FFDFC-3862-4A85-9272-83A389FB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3FD1D4-6838-445A-8417-B213C68CCD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332"/>
          <a:stretch/>
        </p:blipFill>
        <p:spPr>
          <a:xfrm>
            <a:off x="6580290" y="1732560"/>
            <a:ext cx="1667599" cy="19920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37F63B-A02F-45B8-A6DB-3D5468EF11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404"/>
          <a:stretch/>
        </p:blipFill>
        <p:spPr>
          <a:xfrm>
            <a:off x="6658607" y="4369579"/>
            <a:ext cx="1510967" cy="19058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09B8387-4320-409C-BB06-6F087680D1BD}"/>
              </a:ext>
            </a:extLst>
          </p:cNvPr>
          <p:cNvSpPr txBox="1"/>
          <p:nvPr/>
        </p:nvSpPr>
        <p:spPr>
          <a:xfrm>
            <a:off x="6807128" y="1350316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With </a:t>
            </a:r>
            <a:r>
              <a:rPr lang="en-MY" b="1" dirty="0">
                <a:solidFill>
                  <a:srgbClr val="830E3E"/>
                </a:solidFill>
              </a:rPr>
              <a:t>TRUNC</a:t>
            </a:r>
            <a:endParaRPr lang="en-US" b="1" dirty="0">
              <a:solidFill>
                <a:srgbClr val="830E3E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412FA7-15EB-4A4A-8A7B-FFD686BD6C42}"/>
              </a:ext>
            </a:extLst>
          </p:cNvPr>
          <p:cNvSpPr txBox="1"/>
          <p:nvPr/>
        </p:nvSpPr>
        <p:spPr>
          <a:xfrm>
            <a:off x="6738327" y="3911600"/>
            <a:ext cx="1351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Normal data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ED5EAC-6BC5-4177-888E-FE3804F3B829}"/>
              </a:ext>
            </a:extLst>
          </p:cNvPr>
          <p:cNvSpPr/>
          <p:nvPr/>
        </p:nvSpPr>
        <p:spPr>
          <a:xfrm>
            <a:off x="928577" y="2228671"/>
            <a:ext cx="4968695" cy="12003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TRUNC</a:t>
            </a:r>
            <a:r>
              <a:rPr lang="en-US" dirty="0">
                <a:solidFill>
                  <a:srgbClr val="E2A22F"/>
                </a:solidFill>
                <a:latin typeface="Cascadia Code" panose="020B0509020204030204" pitchFamily="49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ascadia Code" panose="020B0509020204030204" pitchFamily="49" charset="0"/>
              </a:rPr>
              <a:t>commission_pct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, 1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)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scadia Code" panose="020B0509020204030204" pitchFamily="49" charset="0"/>
              </a:rPr>
              <a:t>commission_pct</a:t>
            </a:r>
            <a:endParaRPr lang="en-US" dirty="0">
              <a:solidFill>
                <a:schemeClr val="bg1"/>
              </a:solidFill>
              <a:latin typeface="Cascadia Code" panose="020B0509020204030204" pitchFamily="49" charset="0"/>
            </a:endParaRP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IS NOT NULL;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91844-264B-4F98-955C-9035EF2FF081}"/>
              </a:ext>
            </a:extLst>
          </p:cNvPr>
          <p:cNvSpPr/>
          <p:nvPr/>
        </p:nvSpPr>
        <p:spPr>
          <a:xfrm>
            <a:off x="928577" y="4611597"/>
            <a:ext cx="4968695" cy="12003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commission_pct</a:t>
            </a:r>
            <a:endParaRPr lang="en-US" b="1" dirty="0">
              <a:solidFill>
                <a:srgbClr val="E2A22F"/>
              </a:solidFill>
              <a:latin typeface="Cascadia Code" panose="020B0509020204030204" pitchFamily="49" charset="0"/>
            </a:endParaRP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scadia Code" panose="020B0509020204030204" pitchFamily="49" charset="0"/>
              </a:rPr>
              <a:t>commission_pct</a:t>
            </a:r>
            <a:endParaRPr lang="en-US" dirty="0">
              <a:solidFill>
                <a:schemeClr val="bg1"/>
              </a:solidFill>
              <a:latin typeface="Cascadia Code" panose="020B0509020204030204" pitchFamily="49" charset="0"/>
            </a:endParaRP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IS NOT NULL;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9D12B4-5BC4-452A-83C3-3D18CE9A1E59}"/>
              </a:ext>
            </a:extLst>
          </p:cNvPr>
          <p:cNvSpPr txBox="1"/>
          <p:nvPr/>
        </p:nvSpPr>
        <p:spPr>
          <a:xfrm>
            <a:off x="766622" y="4242265"/>
            <a:ext cx="3437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Display normally without truncate: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41B084-854C-4483-87D9-53F3B1D5D041}"/>
              </a:ext>
            </a:extLst>
          </p:cNvPr>
          <p:cNvSpPr/>
          <p:nvPr/>
        </p:nvSpPr>
        <p:spPr>
          <a:xfrm>
            <a:off x="2589457" y="3477651"/>
            <a:ext cx="3349805" cy="53378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NOTE: Use </a:t>
            </a:r>
            <a:r>
              <a:rPr lang="en-MY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TRUNCATE</a:t>
            </a:r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MySQL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018F56B-4D88-4CBD-9B43-D566060AD8F9}"/>
              </a:ext>
            </a:extLst>
          </p:cNvPr>
          <p:cNvSpPr/>
          <p:nvPr/>
        </p:nvSpPr>
        <p:spPr>
          <a:xfrm>
            <a:off x="6062133" y="2653192"/>
            <a:ext cx="395111" cy="38713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8F8A6239-231D-46D7-A4F7-E4EDE424D5E3}"/>
              </a:ext>
            </a:extLst>
          </p:cNvPr>
          <p:cNvSpPr/>
          <p:nvPr/>
        </p:nvSpPr>
        <p:spPr>
          <a:xfrm>
            <a:off x="6059227" y="5018193"/>
            <a:ext cx="395111" cy="38713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08297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B28DA-A33C-48CC-BB42-47376C6A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0070C0"/>
                </a:solidFill>
              </a:rPr>
              <a:t>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CBAD1-F3F3-48B2-8A3F-8B470F889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Example of using </a:t>
            </a:r>
            <a:r>
              <a:rPr lang="en-MY" b="1" dirty="0">
                <a:solidFill>
                  <a:srgbClr val="830E3E"/>
                </a:solidFill>
              </a:rPr>
              <a:t>ROUND</a:t>
            </a:r>
            <a:r>
              <a:rPr lang="en-MY" dirty="0"/>
              <a:t>: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7F17E-ABFF-46E1-B87B-4480B7EC9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687E42C-C534-41BD-AAAE-DB098D4151CC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FFDFC-3862-4A85-9272-83A389FB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ED5EAC-6BC5-4177-888E-FE3804F3B829}"/>
              </a:ext>
            </a:extLst>
          </p:cNvPr>
          <p:cNvSpPr/>
          <p:nvPr/>
        </p:nvSpPr>
        <p:spPr>
          <a:xfrm>
            <a:off x="928577" y="2228671"/>
            <a:ext cx="4968695" cy="12003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ROUND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(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commission_pct, 1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)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commission_pct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IS NOT NULL;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91844-264B-4F98-955C-9035EF2FF081}"/>
              </a:ext>
            </a:extLst>
          </p:cNvPr>
          <p:cNvSpPr/>
          <p:nvPr/>
        </p:nvSpPr>
        <p:spPr>
          <a:xfrm>
            <a:off x="928577" y="4611597"/>
            <a:ext cx="4968695" cy="12003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commission_pct</a:t>
            </a:r>
            <a:endParaRPr lang="en-US" b="1" dirty="0">
              <a:solidFill>
                <a:srgbClr val="E2A22F"/>
              </a:solidFill>
              <a:latin typeface="Cascadia Code" panose="020B0509020204030204" pitchFamily="49" charset="0"/>
            </a:endParaRP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commission_pct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IS NOT NULL;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9D12B4-5BC4-452A-83C3-3D18CE9A1E59}"/>
              </a:ext>
            </a:extLst>
          </p:cNvPr>
          <p:cNvSpPr txBox="1"/>
          <p:nvPr/>
        </p:nvSpPr>
        <p:spPr>
          <a:xfrm>
            <a:off x="766622" y="4242265"/>
            <a:ext cx="3356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Display normally without ROUND:</a:t>
            </a:r>
            <a:endParaRPr lang="en-US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018F56B-4D88-4CBD-9B43-D566060AD8F9}"/>
              </a:ext>
            </a:extLst>
          </p:cNvPr>
          <p:cNvSpPr/>
          <p:nvPr/>
        </p:nvSpPr>
        <p:spPr>
          <a:xfrm>
            <a:off x="6062133" y="2653192"/>
            <a:ext cx="395111" cy="38713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8F8A6239-231D-46D7-A4F7-E4EDE424D5E3}"/>
              </a:ext>
            </a:extLst>
          </p:cNvPr>
          <p:cNvSpPr/>
          <p:nvPr/>
        </p:nvSpPr>
        <p:spPr>
          <a:xfrm>
            <a:off x="6059227" y="5018193"/>
            <a:ext cx="395111" cy="38713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D8D5921-2CAA-4F01-A606-B63D9A5192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4810"/>
          <a:stretch/>
        </p:blipFill>
        <p:spPr>
          <a:xfrm>
            <a:off x="6566646" y="4131854"/>
            <a:ext cx="1948704" cy="226133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C35E0A4-FAF2-4526-B6BF-88BAB42ADE4F}"/>
              </a:ext>
            </a:extLst>
          </p:cNvPr>
          <p:cNvSpPr txBox="1"/>
          <p:nvPr/>
        </p:nvSpPr>
        <p:spPr>
          <a:xfrm>
            <a:off x="6466562" y="983624"/>
            <a:ext cx="1426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With </a:t>
            </a:r>
            <a:r>
              <a:rPr lang="en-MY" b="1" dirty="0">
                <a:solidFill>
                  <a:srgbClr val="830E3E"/>
                </a:solidFill>
              </a:rPr>
              <a:t>ROUND</a:t>
            </a:r>
            <a:endParaRPr lang="en-US" b="1" dirty="0">
              <a:solidFill>
                <a:srgbClr val="830E3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AFAF30-BCA0-4955-A167-2F821D9F6863}"/>
              </a:ext>
            </a:extLst>
          </p:cNvPr>
          <p:cNvSpPr txBox="1"/>
          <p:nvPr/>
        </p:nvSpPr>
        <p:spPr>
          <a:xfrm>
            <a:off x="6466562" y="3739172"/>
            <a:ext cx="1404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Normal data </a:t>
            </a:r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C858CDF-F642-4C26-B890-23FA854C7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646" y="1409417"/>
            <a:ext cx="1762371" cy="230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858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2DEE4-7F44-44DD-B9D0-73B948055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</a:t>
            </a:r>
            <a:r>
              <a:rPr lang="en-US" dirty="0">
                <a:solidFill>
                  <a:srgbClr val="0070C0"/>
                </a:solidFill>
              </a:rPr>
              <a:t>ROUND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TRUNCATE</a:t>
            </a:r>
            <a:r>
              <a:rPr lang="en-US" dirty="0"/>
              <a:t> and normal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67F17-D251-43A8-976B-7386FC183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Execute the SQL statement below to see the difference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BE28C-A3E3-4567-AD28-4D64788D0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E687B5-40FE-46D4-ACF8-2C8891D8D2CF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118D2E-F503-44E7-BE46-380334087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C84CC5-F668-4219-822C-6CC1F1BDE3E0}"/>
              </a:ext>
            </a:extLst>
          </p:cNvPr>
          <p:cNvSpPr/>
          <p:nvPr/>
        </p:nvSpPr>
        <p:spPr>
          <a:xfrm>
            <a:off x="628650" y="2179458"/>
            <a:ext cx="8220882" cy="92333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TRUNCATE 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(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commission_pct, 1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)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,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ROUND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(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commission_pct, 1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)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, commission_pct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commission_pct 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IS NOT NULL;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AA3FF5-7AED-43FF-81EA-5303510D7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62" y="3575188"/>
            <a:ext cx="4993686" cy="262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44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658EB-0C9B-4DCF-9E69-E65C3D401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Aggregate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16DCD-CF5C-43F1-90EC-36265BE10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referred to as Group Functions </a:t>
            </a:r>
          </a:p>
          <a:p>
            <a:r>
              <a:rPr lang="en-US" dirty="0"/>
              <a:t>Can be used only in the SELECT and HAVING clause</a:t>
            </a:r>
          </a:p>
          <a:p>
            <a:r>
              <a:rPr lang="en-US" dirty="0"/>
              <a:t>Operate on sets of rows to give one result per group</a:t>
            </a:r>
          </a:p>
          <a:p>
            <a:pPr lvl="1"/>
            <a:r>
              <a:rPr lang="en-US" dirty="0"/>
              <a:t>For numeric data:</a:t>
            </a:r>
          </a:p>
          <a:p>
            <a:pPr lvl="2"/>
            <a:r>
              <a:rPr lang="en-US" b="1" dirty="0">
                <a:solidFill>
                  <a:srgbClr val="4472C4"/>
                </a:solidFill>
              </a:rPr>
              <a:t>AVG</a:t>
            </a:r>
            <a:r>
              <a:rPr lang="en-US" dirty="0"/>
              <a:t> 	- returns average of values in a column **</a:t>
            </a:r>
          </a:p>
          <a:p>
            <a:pPr lvl="2"/>
            <a:r>
              <a:rPr lang="en-US" b="1" dirty="0">
                <a:solidFill>
                  <a:srgbClr val="4472C4"/>
                </a:solidFill>
              </a:rPr>
              <a:t>SUM</a:t>
            </a:r>
            <a:r>
              <a:rPr lang="en-US" dirty="0"/>
              <a:t> 	- returns the sum of values in a column **</a:t>
            </a:r>
          </a:p>
          <a:p>
            <a:pPr lvl="1"/>
            <a:r>
              <a:rPr lang="en-US" dirty="0"/>
              <a:t>For numeric, character &amp; date data types</a:t>
            </a:r>
          </a:p>
          <a:p>
            <a:pPr lvl="2"/>
            <a:r>
              <a:rPr lang="en-US" b="1" dirty="0">
                <a:solidFill>
                  <a:srgbClr val="4472C4"/>
                </a:solidFill>
              </a:rPr>
              <a:t>MAX</a:t>
            </a:r>
            <a:r>
              <a:rPr lang="en-US" dirty="0"/>
              <a:t> 	- returns the largest value of values in a column **</a:t>
            </a:r>
          </a:p>
          <a:p>
            <a:pPr lvl="2"/>
            <a:r>
              <a:rPr lang="en-US" b="1" dirty="0">
                <a:solidFill>
                  <a:srgbClr val="4472C4"/>
                </a:solidFill>
              </a:rPr>
              <a:t>MIN</a:t>
            </a:r>
            <a:r>
              <a:rPr lang="en-US" dirty="0"/>
              <a:t> 	- returns the smallest value of values in a column **</a:t>
            </a:r>
          </a:p>
          <a:p>
            <a:pPr lvl="2"/>
            <a:r>
              <a:rPr lang="en-US" b="1" dirty="0">
                <a:solidFill>
                  <a:srgbClr val="4472C4"/>
                </a:solidFill>
              </a:rPr>
              <a:t>COUNT</a:t>
            </a:r>
            <a:r>
              <a:rPr lang="en-US" dirty="0"/>
              <a:t>  - returns number of rows  </a:t>
            </a:r>
          </a:p>
          <a:p>
            <a:pPr marL="457200" lvl="1" indent="0">
              <a:buNone/>
            </a:pPr>
            <a:r>
              <a:rPr lang="en-US" i="1" dirty="0">
                <a:solidFill>
                  <a:srgbClr val="4472C4"/>
                </a:solidFill>
              </a:rPr>
              <a:t>** - Ignoring NULL values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8B6CD-0AB4-4156-A8D4-8290B20D2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09504F-4C29-4EF5-A732-BD2C7313BB19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442F18-5204-4DEF-8282-CEAF64671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074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D70F6-BA6C-4C25-BFE4-6FFD3CBB4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022" y="365760"/>
            <a:ext cx="7025402" cy="1188720"/>
          </a:xfrm>
        </p:spPr>
        <p:txBody>
          <a:bodyPr>
            <a:normAutofit/>
          </a:bodyPr>
          <a:lstStyle/>
          <a:p>
            <a:r>
              <a:rPr lang="en-MY" dirty="0"/>
              <a:t>Substitute </a:t>
            </a:r>
            <a:r>
              <a:rPr lang="en-MY"/>
              <a:t>NULL</a:t>
            </a:r>
            <a:r>
              <a:rPr lang="en-MY" dirty="0"/>
              <a:t> Values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23075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0"/>
            <a:ext cx="9144000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728740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F3628-D0B5-458B-B244-188A95A41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014" y="1920241"/>
            <a:ext cx="7494815" cy="4436108"/>
          </a:xfrm>
        </p:spPr>
        <p:txBody>
          <a:bodyPr anchor="t">
            <a:normAutofit/>
          </a:bodyPr>
          <a:lstStyle/>
          <a:p>
            <a:r>
              <a:rPr lang="en-US" dirty="0"/>
              <a:t>The following </a:t>
            </a:r>
            <a:r>
              <a:rPr lang="en-US" dirty="0">
                <a:solidFill>
                  <a:srgbClr val="FF0000"/>
                </a:solidFill>
              </a:rPr>
              <a:t>functions</a:t>
            </a:r>
            <a:r>
              <a:rPr lang="en-US" dirty="0"/>
              <a:t> work with any data type and pertain to using NULLs</a:t>
            </a:r>
          </a:p>
          <a:p>
            <a:pPr lvl="1"/>
            <a:r>
              <a:rPr lang="en-US" sz="2400" b="1" dirty="0">
                <a:latin typeface="Cascadia Code" panose="020B0509020204030204" pitchFamily="49" charset="0"/>
              </a:rPr>
              <a:t>IFNULL</a:t>
            </a:r>
            <a:r>
              <a:rPr lang="en-US" sz="2400" dirty="0">
                <a:latin typeface="Cascadia Code" panose="020B0509020204030204" pitchFamily="49" charset="0"/>
              </a:rPr>
              <a:t>(expr1, expr2)</a:t>
            </a:r>
          </a:p>
          <a:p>
            <a:pPr lvl="2"/>
            <a:r>
              <a:rPr lang="en-US" sz="2400" dirty="0">
                <a:solidFill>
                  <a:srgbClr val="0070C0"/>
                </a:solidFill>
              </a:rPr>
              <a:t>In Oracle, use </a:t>
            </a:r>
            <a:r>
              <a:rPr lang="en-US" sz="2400" b="1" dirty="0">
                <a:solidFill>
                  <a:srgbClr val="0070C0"/>
                </a:solidFill>
                <a:latin typeface="Cascadia Code" panose="020B0509020204030204" pitchFamily="49" charset="0"/>
              </a:rPr>
              <a:t>NVL</a:t>
            </a:r>
            <a:r>
              <a:rPr lang="en-US" sz="2400" dirty="0">
                <a:solidFill>
                  <a:srgbClr val="0070C0"/>
                </a:solidFill>
                <a:latin typeface="Cascadia Code" panose="020B0509020204030204" pitchFamily="49" charset="0"/>
              </a:rPr>
              <a:t>(expr1, expr2)</a:t>
            </a:r>
          </a:p>
          <a:p>
            <a:pPr lvl="1"/>
            <a:r>
              <a:rPr lang="en-US" sz="2400" b="1" dirty="0">
                <a:latin typeface="Cascadia Code" panose="020B0509020204030204" pitchFamily="49" charset="0"/>
              </a:rPr>
              <a:t>IF</a:t>
            </a:r>
            <a:r>
              <a:rPr lang="en-US" sz="2400" dirty="0">
                <a:latin typeface="Cascadia Code" panose="020B0509020204030204" pitchFamily="49" charset="0"/>
              </a:rPr>
              <a:t>(expr1, expr2, expr3)</a:t>
            </a:r>
          </a:p>
          <a:p>
            <a:pPr lvl="2"/>
            <a:r>
              <a:rPr lang="en-US" sz="2400" dirty="0">
                <a:solidFill>
                  <a:srgbClr val="0070C0"/>
                </a:solidFill>
              </a:rPr>
              <a:t>In Oracle, use </a:t>
            </a:r>
            <a:r>
              <a:rPr lang="en-US" sz="2400" b="1" dirty="0">
                <a:solidFill>
                  <a:srgbClr val="0070C0"/>
                </a:solidFill>
                <a:latin typeface="Cascadia Code" panose="020B0509020204030204" pitchFamily="49" charset="0"/>
              </a:rPr>
              <a:t>NVL2</a:t>
            </a:r>
            <a:r>
              <a:rPr lang="en-US" sz="2400" dirty="0">
                <a:solidFill>
                  <a:srgbClr val="0070C0"/>
                </a:solidFill>
                <a:latin typeface="Cascadia Code" panose="020B0509020204030204" pitchFamily="49" charset="0"/>
              </a:rPr>
              <a:t>(expr1, expr2, expr3)</a:t>
            </a:r>
            <a:endParaRPr lang="en-US" sz="2400" dirty="0">
              <a:solidFill>
                <a:srgbClr val="0070C0"/>
              </a:solidFill>
            </a:endParaRPr>
          </a:p>
          <a:p>
            <a:pPr lvl="1"/>
            <a:r>
              <a:rPr lang="en-US" sz="2400" b="1" dirty="0">
                <a:latin typeface="Cascadia Code" panose="020B0509020204030204" pitchFamily="49" charset="0"/>
              </a:rPr>
              <a:t>NULLIF</a:t>
            </a:r>
            <a:r>
              <a:rPr lang="en-US" sz="2400" dirty="0">
                <a:latin typeface="Cascadia Code" panose="020B0509020204030204" pitchFamily="49" charset="0"/>
              </a:rPr>
              <a:t>(expr1, expr2)	</a:t>
            </a:r>
          </a:p>
          <a:p>
            <a:pPr lvl="2"/>
            <a:r>
              <a:rPr lang="en-US" sz="2400" dirty="0"/>
              <a:t>Works for both Oracle and MySQL</a:t>
            </a:r>
          </a:p>
          <a:p>
            <a:pPr lvl="1"/>
            <a:r>
              <a:rPr lang="en-US" sz="2400" b="1" dirty="0">
                <a:latin typeface="Cascadia Code" panose="020B0509020204030204" pitchFamily="49" charset="0"/>
              </a:rPr>
              <a:t>COALESCE</a:t>
            </a:r>
            <a:r>
              <a:rPr lang="en-US" sz="2400" dirty="0">
                <a:latin typeface="Cascadia Code" panose="020B0509020204030204" pitchFamily="49" charset="0"/>
              </a:rPr>
              <a:t>(expr1, expr2, … , </a:t>
            </a:r>
            <a:r>
              <a:rPr lang="en-US" sz="2400" dirty="0" err="1">
                <a:latin typeface="Cascadia Code" panose="020B0509020204030204" pitchFamily="49" charset="0"/>
              </a:rPr>
              <a:t>exprn</a:t>
            </a:r>
            <a:r>
              <a:rPr lang="en-US" sz="2400" dirty="0">
                <a:latin typeface="Cascadia Code" panose="020B0509020204030204" pitchFamily="49" charset="0"/>
              </a:rPr>
              <a:t>)</a:t>
            </a:r>
          </a:p>
          <a:p>
            <a:pPr lvl="2"/>
            <a:r>
              <a:rPr lang="en-US" sz="2400" dirty="0"/>
              <a:t>Works for both Oracle and MySQL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69F65-ADEB-4F0B-973C-85F943AC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36407" y="6356350"/>
            <a:ext cx="144735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92DDDA0D-0147-419F-9E57-EA2A097E231A}" type="datetime5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8-Dec-24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6BC6F-E82A-4301-841A-3018BF178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18386" y="6356350"/>
            <a:ext cx="144703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4AEEF2DB-3D68-4EFF-B92B-90C34555BE45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8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36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26067-31BA-45C9-A9A7-465235A04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Substitute </a:t>
            </a:r>
            <a:r>
              <a:rPr lang="en-MY" dirty="0">
                <a:solidFill>
                  <a:srgbClr val="4472C4"/>
                </a:solidFill>
              </a:rPr>
              <a:t>NULL</a:t>
            </a:r>
            <a:r>
              <a:rPr lang="en-MY" dirty="0"/>
              <a:t> Values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79FDD-5E68-435E-8F2C-671B3765E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ADA312-A98D-406E-8B3E-A6C89AEE6F55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AB37C6-8FF0-4318-B870-A2EB3C4C5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D4FA1C3F-A5D7-41F9-A50B-DE39C0F700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979844"/>
              </p:ext>
            </p:extLst>
          </p:nvPr>
        </p:nvGraphicFramePr>
        <p:xfrm>
          <a:off x="628650" y="1509713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7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Converts a null value</a:t>
                      </a:r>
                      <a:r>
                        <a:rPr lang="en-US" sz="2400" baseline="0" dirty="0"/>
                        <a:t> to an actual value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If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expr1</a:t>
                      </a:r>
                      <a:r>
                        <a:rPr lang="en-US" sz="2400" baseline="0" dirty="0"/>
                        <a:t> is not null, </a:t>
                      </a:r>
                      <a:r>
                        <a:rPr lang="en-US" sz="24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  <a:r>
                        <a:rPr lang="en-US" sz="2400" baseline="0" dirty="0"/>
                        <a:t> returns </a:t>
                      </a:r>
                      <a:r>
                        <a:rPr lang="en-US" sz="24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expr2</a:t>
                      </a:r>
                      <a:r>
                        <a:rPr lang="en-US" sz="2400" baseline="0" dirty="0"/>
                        <a:t>. </a:t>
                      </a:r>
                    </a:p>
                    <a:p>
                      <a:r>
                        <a:rPr lang="en-US" sz="2400" baseline="0" dirty="0"/>
                        <a:t>If </a:t>
                      </a:r>
                      <a:r>
                        <a:rPr lang="en-US" sz="24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expr1</a:t>
                      </a:r>
                      <a:r>
                        <a:rPr lang="en-US" sz="2400" baseline="0" dirty="0"/>
                        <a:t> is null, </a:t>
                      </a:r>
                      <a:r>
                        <a:rPr lang="en-US" sz="24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  <a:r>
                        <a:rPr lang="en-US" sz="2400" baseline="0" dirty="0"/>
                        <a:t> returns </a:t>
                      </a:r>
                      <a:r>
                        <a:rPr lang="en-US" sz="24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expr3</a:t>
                      </a:r>
                      <a:r>
                        <a:rPr lang="en-US" sz="2400" baseline="0" dirty="0"/>
                        <a:t>.</a:t>
                      </a:r>
                    </a:p>
                    <a:p>
                      <a:r>
                        <a:rPr lang="en-US" sz="2400" baseline="0" dirty="0"/>
                        <a:t>The argument </a:t>
                      </a:r>
                      <a:r>
                        <a:rPr lang="en-US" sz="240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expr1</a:t>
                      </a:r>
                      <a:r>
                        <a:rPr lang="en-US" sz="2400" baseline="0" dirty="0"/>
                        <a:t> can have any data type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NULLIF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Compares two</a:t>
                      </a:r>
                      <a:r>
                        <a:rPr lang="en-US" sz="2400" baseline="0" dirty="0"/>
                        <a:t> expressions and returns null if they are equal;</a:t>
                      </a:r>
                    </a:p>
                    <a:p>
                      <a:r>
                        <a:rPr lang="en-US" sz="2400" baseline="0" dirty="0"/>
                        <a:t>Returns the first expression if they are not equal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COALESCE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Returns the first non-null</a:t>
                      </a:r>
                      <a:r>
                        <a:rPr lang="en-US" sz="2400" baseline="0" dirty="0"/>
                        <a:t> expression in the expression </a:t>
                      </a:r>
                      <a:r>
                        <a:rPr lang="en-US" sz="2400" baseline="0" dirty="0" err="1"/>
                        <a:t>listsx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4648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8998B-3FE2-4E10-A1A3-36ED121BF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022" y="365760"/>
            <a:ext cx="7025402" cy="1188720"/>
          </a:xfrm>
        </p:spPr>
        <p:txBody>
          <a:bodyPr>
            <a:normAutofit/>
          </a:bodyPr>
          <a:lstStyle/>
          <a:p>
            <a:r>
              <a:rPr lang="en-MY" dirty="0"/>
              <a:t>Using IFNULL (MySQL)/ NVL (Oracle) 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23075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0"/>
            <a:ext cx="9144000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728740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BB5A9-3BA0-4700-A9AA-8ED6B1C1F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056" y="2189299"/>
            <a:ext cx="7511144" cy="4023360"/>
          </a:xfrm>
        </p:spPr>
        <p:txBody>
          <a:bodyPr anchor="t">
            <a:normAutofit/>
          </a:bodyPr>
          <a:lstStyle/>
          <a:p>
            <a:r>
              <a:rPr lang="en-US" dirty="0"/>
              <a:t>Converts a NULL value to an actual value.</a:t>
            </a:r>
          </a:p>
          <a:p>
            <a:r>
              <a:rPr lang="en-US" dirty="0"/>
              <a:t>Syntax:</a:t>
            </a:r>
          </a:p>
          <a:p>
            <a:pPr lvl="1"/>
            <a:r>
              <a:rPr lang="en-US" sz="2400" b="1" dirty="0"/>
              <a:t>IFNULL</a:t>
            </a:r>
            <a:r>
              <a:rPr lang="en-US" sz="2400" dirty="0"/>
              <a:t>(expr1, expr2) / </a:t>
            </a:r>
            <a:r>
              <a:rPr lang="en-US" sz="2400" b="1" dirty="0"/>
              <a:t>NVL</a:t>
            </a:r>
            <a:r>
              <a:rPr lang="en-US" sz="2400" dirty="0"/>
              <a:t> (expr1, expr2)</a:t>
            </a:r>
          </a:p>
          <a:p>
            <a:pPr lvl="2"/>
            <a:r>
              <a:rPr lang="en-US" sz="2200" dirty="0"/>
              <a:t>expr1 is the source value or expression that may contain NULL</a:t>
            </a:r>
          </a:p>
          <a:p>
            <a:pPr lvl="2"/>
            <a:r>
              <a:rPr lang="en-US" sz="2400" dirty="0"/>
              <a:t>expr2 is the target value for converting the null.</a:t>
            </a:r>
          </a:p>
          <a:p>
            <a:r>
              <a:rPr lang="en-US" dirty="0"/>
              <a:t>You can use the function with any data type, but the return value is always the </a:t>
            </a:r>
            <a:r>
              <a:rPr lang="en-US" b="1" dirty="0"/>
              <a:t>same as data type in expr1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F949A-B8DB-4099-A20B-A1CF4C5CF0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36407" y="6356350"/>
            <a:ext cx="144735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2304CE49-FD10-4C23-B51D-FE232E999552}" type="datetime5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8-Dec-24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8FC536-4FA6-4CE9-A1DA-747A49A1B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18386" y="6356350"/>
            <a:ext cx="144703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4AEEF2DB-3D68-4EFF-B92B-90C34555BE45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10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185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8998B-3FE2-4E10-A1A3-36ED121BF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err="1"/>
              <a:t>Using</a:t>
            </a:r>
            <a:r>
              <a:rPr lang="en-MY" dirty="0" err="1">
                <a:solidFill>
                  <a:srgbClr val="4472C4"/>
                </a:solidFill>
              </a:rPr>
              <a:t>IFNULL</a:t>
            </a:r>
            <a:r>
              <a:rPr lang="en-MY" dirty="0"/>
              <a:t> (MySQL) / </a:t>
            </a:r>
            <a:r>
              <a:rPr lang="en-MY" dirty="0">
                <a:solidFill>
                  <a:srgbClr val="4472C4"/>
                </a:solidFill>
              </a:rPr>
              <a:t>NVL</a:t>
            </a:r>
            <a:r>
              <a:rPr lang="en-MY" dirty="0"/>
              <a:t> (Oracle)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BB5A9-3BA0-4700-A9AA-8ED6B1C1F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types that can be used are date, character, and number</a:t>
            </a:r>
          </a:p>
          <a:p>
            <a:r>
              <a:rPr lang="en-US" dirty="0"/>
              <a:t>Data types must match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</a:rPr>
              <a:t>IFNULL</a:t>
            </a:r>
            <a:r>
              <a:rPr lang="en-US" dirty="0">
                <a:highlight>
                  <a:srgbClr val="FFFF00"/>
                </a:highlight>
              </a:rPr>
              <a:t> (</a:t>
            </a:r>
            <a:r>
              <a:rPr lang="en-US" dirty="0" err="1">
                <a:highlight>
                  <a:srgbClr val="FFFF00"/>
                </a:highlight>
              </a:rPr>
              <a:t>commission_pct</a:t>
            </a:r>
            <a:r>
              <a:rPr lang="en-US" dirty="0">
                <a:highlight>
                  <a:srgbClr val="FFFF00"/>
                </a:highlight>
              </a:rPr>
              <a:t>, 0) </a:t>
            </a:r>
            <a:r>
              <a:rPr lang="en-US" dirty="0"/>
              <a:t>/ </a:t>
            </a:r>
            <a:r>
              <a:rPr lang="en-US" b="1" dirty="0">
                <a:solidFill>
                  <a:srgbClr val="0070C0"/>
                </a:solidFill>
              </a:rPr>
              <a:t>NVL</a:t>
            </a:r>
            <a:r>
              <a:rPr lang="en-US" dirty="0"/>
              <a:t>(commission_pct, 0) 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</a:rPr>
              <a:t>IFNULL</a:t>
            </a:r>
            <a:r>
              <a:rPr lang="en-US" dirty="0">
                <a:highlight>
                  <a:srgbClr val="FFFF00"/>
                </a:highlight>
              </a:rPr>
              <a:t> (</a:t>
            </a:r>
            <a:r>
              <a:rPr lang="en-US" dirty="0" err="1">
                <a:highlight>
                  <a:srgbClr val="FFFF00"/>
                </a:highlight>
              </a:rPr>
              <a:t>hire_date</a:t>
            </a:r>
            <a:r>
              <a:rPr lang="en-US" dirty="0">
                <a:highlight>
                  <a:srgbClr val="FFFF00"/>
                </a:highlight>
              </a:rPr>
              <a:t>, ‘01-JAN-15’) </a:t>
            </a:r>
            <a:r>
              <a:rPr lang="en-US" dirty="0"/>
              <a:t>/ </a:t>
            </a:r>
            <a:r>
              <a:rPr lang="en-US" b="1" dirty="0">
                <a:solidFill>
                  <a:srgbClr val="0070C0"/>
                </a:solidFill>
              </a:rPr>
              <a:t>NVL</a:t>
            </a:r>
            <a:r>
              <a:rPr lang="en-US" dirty="0"/>
              <a:t>(</a:t>
            </a:r>
            <a:r>
              <a:rPr lang="en-US" dirty="0" err="1"/>
              <a:t>hire_date</a:t>
            </a:r>
            <a:r>
              <a:rPr lang="en-US" dirty="0"/>
              <a:t>, ‘01-JAN-15’) 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</a:rPr>
              <a:t>IFNULL</a:t>
            </a:r>
            <a:r>
              <a:rPr lang="en-US" dirty="0">
                <a:highlight>
                  <a:srgbClr val="FFFF00"/>
                </a:highlight>
              </a:rPr>
              <a:t>(</a:t>
            </a:r>
            <a:r>
              <a:rPr lang="en-US" dirty="0" err="1">
                <a:highlight>
                  <a:srgbClr val="FFFF00"/>
                </a:highlight>
              </a:rPr>
              <a:t>job_id</a:t>
            </a:r>
            <a:r>
              <a:rPr lang="en-US" dirty="0">
                <a:highlight>
                  <a:srgbClr val="FFFF00"/>
                </a:highlight>
              </a:rPr>
              <a:t>, ‘No Job Yet’) </a:t>
            </a:r>
            <a:r>
              <a:rPr lang="en-US" dirty="0"/>
              <a:t>/ </a:t>
            </a:r>
            <a:r>
              <a:rPr lang="en-US" b="1" dirty="0">
                <a:solidFill>
                  <a:srgbClr val="0070C0"/>
                </a:solidFill>
              </a:rPr>
              <a:t>NVL</a:t>
            </a:r>
            <a:r>
              <a:rPr lang="en-US" dirty="0"/>
              <a:t>(</a:t>
            </a:r>
            <a:r>
              <a:rPr lang="en-US" dirty="0" err="1"/>
              <a:t>job_id</a:t>
            </a:r>
            <a:r>
              <a:rPr lang="en-US" dirty="0"/>
              <a:t>, ‘No Job Yet’) 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F949A-B8DB-4099-A20B-A1CF4C5CF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D5CAC5-7B7A-4593-BA6F-7E2BB1F4AFDD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8FC536-4FA6-4CE9-A1DA-747A49A1B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10FECC2-BF58-4CA2-9E30-F1A5203F3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044360"/>
              </p:ext>
            </p:extLst>
          </p:nvPr>
        </p:nvGraphicFramePr>
        <p:xfrm>
          <a:off x="539750" y="3763963"/>
          <a:ext cx="8064500" cy="1754563"/>
        </p:xfrm>
        <a:graphic>
          <a:graphicData uri="http://schemas.openxmlformats.org/drawingml/2006/table">
            <a:tbl>
              <a:tblPr/>
              <a:tblGrid>
                <a:gridCol w="2530475">
                  <a:extLst>
                    <a:ext uri="{9D8B030D-6E8A-4147-A177-3AD203B41FA5}">
                      <a16:colId xmlns:a16="http://schemas.microsoft.com/office/drawing/2014/main" val="480064677"/>
                    </a:ext>
                  </a:extLst>
                </a:gridCol>
                <a:gridCol w="5534025">
                  <a:extLst>
                    <a:ext uri="{9D8B030D-6E8A-4147-A177-3AD203B41FA5}">
                      <a16:colId xmlns:a16="http://schemas.microsoft.com/office/drawing/2014/main" val="452562180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Data Type</a:t>
                      </a:r>
                    </a:p>
                  </a:txBody>
                  <a:tcPr marL="91436" marR="91436" marT="45749" marB="457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Conversion Example</a:t>
                      </a:r>
                    </a:p>
                  </a:txBody>
                  <a:tcPr marL="91436" marR="91436" marT="45749" marB="457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159004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NUMBER</a:t>
                      </a:r>
                    </a:p>
                  </a:txBody>
                  <a:tcPr marL="91436" marR="91436" marT="45749" marB="457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IFNULL (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number_column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9)</a:t>
                      </a:r>
                    </a:p>
                  </a:txBody>
                  <a:tcPr marL="91436" marR="91436" marT="45749" marB="457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583231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</a:t>
                      </a:r>
                    </a:p>
                  </a:txBody>
                  <a:tcPr marL="91436" marR="91436" marT="45749" marB="457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IFNULL (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date_column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‘01-JAN-15’)</a:t>
                      </a:r>
                    </a:p>
                  </a:txBody>
                  <a:tcPr marL="91436" marR="91436" marT="45749" marB="457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188977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CHAR or VARCHAR2</a:t>
                      </a:r>
                    </a:p>
                  </a:txBody>
                  <a:tcPr marL="91436" marR="91436" marT="45749" marB="457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IFNULL (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character_column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‘Unavailable’)</a:t>
                      </a:r>
                    </a:p>
                  </a:txBody>
                  <a:tcPr marL="91436" marR="91436" marT="45749" marB="457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644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444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AF9B-7403-4112-8760-C37CB3C14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the </a:t>
            </a:r>
            <a:r>
              <a:rPr lang="en-MY" dirty="0">
                <a:solidFill>
                  <a:srgbClr val="0070C0"/>
                </a:solidFill>
              </a:rPr>
              <a:t>IFNULL</a:t>
            </a:r>
            <a:r>
              <a:rPr lang="en-MY" dirty="0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E2D8E-1A20-4171-8BD1-FCE4BE9AD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the annual salary of employees. We need to multiply the monthly salary by 12 and then add the commission percentage to the result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E6BB5-4FDD-41AD-AAAD-47472A3C3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C8F03F3-8FD7-461D-B222-D40C19F82CFF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8C12D3-B6BC-42FF-B836-FB7346B81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381668E5-0133-4D28-A212-505BABD59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716" y="2772279"/>
            <a:ext cx="6881593" cy="830997"/>
          </a:xfrm>
          <a:prstGeom prst="rect">
            <a:avLst/>
          </a:pr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E2A22F"/>
                </a:solidFill>
                <a:latin typeface="Cascadia Code" panose="020B0509020204030204" pitchFamily="49" charset="0"/>
                <a:cs typeface="Calibri" panose="020F0502020204030204" pitchFamily="34" charset="0"/>
              </a:rPr>
              <a:t>SELECT</a:t>
            </a:r>
            <a:r>
              <a:rPr lang="en-US" altLang="en-US" sz="1600" dirty="0">
                <a:solidFill>
                  <a:schemeClr val="bg1"/>
                </a:solidFill>
                <a:latin typeface="Cascadia Code" panose="020B0509020204030204" pitchFamily="49" charset="0"/>
                <a:cs typeface="Calibri" panose="020F050202020403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Cascadia Code" panose="020B0509020204030204" pitchFamily="49" charset="0"/>
                <a:cs typeface="Calibri" panose="020F0502020204030204" pitchFamily="34" charset="0"/>
              </a:rPr>
              <a:t>last_name</a:t>
            </a:r>
            <a:r>
              <a:rPr lang="en-US" altLang="en-US" sz="1600" dirty="0">
                <a:solidFill>
                  <a:schemeClr val="bg1"/>
                </a:solidFill>
                <a:latin typeface="Cascadia Code" panose="020B0509020204030204" pitchFamily="49" charset="0"/>
                <a:cs typeface="Calibri" panose="020F0502020204030204" pitchFamily="34" charset="0"/>
              </a:rPr>
              <a:t>, salary, </a:t>
            </a:r>
            <a:r>
              <a:rPr lang="en-US" altLang="en-US" sz="1600" dirty="0" err="1">
                <a:solidFill>
                  <a:schemeClr val="bg1"/>
                </a:solidFill>
                <a:latin typeface="Cascadia Code" panose="020B0509020204030204" pitchFamily="49" charset="0"/>
                <a:cs typeface="Calibri" panose="020F0502020204030204" pitchFamily="34" charset="0"/>
              </a:rPr>
              <a:t>commission_pct</a:t>
            </a:r>
            <a:r>
              <a:rPr lang="en-US" altLang="en-US" sz="1600" dirty="0">
                <a:solidFill>
                  <a:schemeClr val="bg1"/>
                </a:solidFill>
                <a:latin typeface="Cascadia Code" panose="020B0509020204030204" pitchFamily="49" charset="0"/>
                <a:cs typeface="Calibri" panose="020F0502020204030204" pitchFamily="34" charset="0"/>
              </a:rPr>
              <a:t>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chemeClr val="bg1"/>
                </a:solidFill>
                <a:latin typeface="Cascadia Code" panose="020B0509020204030204" pitchFamily="49" charset="0"/>
                <a:cs typeface="Calibri" panose="020F0502020204030204" pitchFamily="34" charset="0"/>
              </a:rPr>
              <a:t>	(salary*12) + (salary * 12 * </a:t>
            </a:r>
            <a:r>
              <a:rPr lang="en-US" altLang="en-US" sz="1600" dirty="0" err="1">
                <a:solidFill>
                  <a:schemeClr val="bg1"/>
                </a:solidFill>
                <a:latin typeface="Cascadia Code" panose="020B0509020204030204" pitchFamily="49" charset="0"/>
                <a:cs typeface="Calibri" panose="020F0502020204030204" pitchFamily="34" charset="0"/>
              </a:rPr>
              <a:t>commission_pct</a:t>
            </a:r>
            <a:r>
              <a:rPr lang="en-US" altLang="en-US" sz="1600" dirty="0">
                <a:solidFill>
                  <a:schemeClr val="bg1"/>
                </a:solidFill>
                <a:latin typeface="Cascadia Code" panose="020B0509020204030204" pitchFamily="49" charset="0"/>
                <a:cs typeface="Calibri" panose="020F0502020204030204" pitchFamily="34" charset="0"/>
              </a:rPr>
              <a:t>) ANN_SAL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E2A22F"/>
                </a:solidFill>
                <a:latin typeface="Cascadia Code" panose="020B0509020204030204" pitchFamily="49" charset="0"/>
                <a:cs typeface="Calibri" panose="020F0502020204030204" pitchFamily="34" charset="0"/>
              </a:rPr>
              <a:t>FROM</a:t>
            </a:r>
            <a:r>
              <a:rPr lang="en-US" altLang="en-US" sz="1600" dirty="0">
                <a:solidFill>
                  <a:schemeClr val="bg1"/>
                </a:solidFill>
                <a:latin typeface="Cascadia Code" panose="020B0509020204030204" pitchFamily="49" charset="0"/>
                <a:cs typeface="Calibri" panose="020F0502020204030204" pitchFamily="34" charset="0"/>
              </a:rPr>
              <a:t> employees;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9D44EE-BC3A-40AB-9291-302736062BE1}"/>
              </a:ext>
            </a:extLst>
          </p:cNvPr>
          <p:cNvSpPr/>
          <p:nvPr/>
        </p:nvSpPr>
        <p:spPr bwMode="auto">
          <a:xfrm>
            <a:off x="2982441" y="2802877"/>
            <a:ext cx="2285687" cy="2557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C3832F-E4F2-47FC-BD83-0D3D31DA25E7}"/>
              </a:ext>
            </a:extLst>
          </p:cNvPr>
          <p:cNvSpPr/>
          <p:nvPr/>
        </p:nvSpPr>
        <p:spPr bwMode="auto">
          <a:xfrm>
            <a:off x="1350809" y="3064139"/>
            <a:ext cx="6317500" cy="24919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4F341AA-42B6-4CD4-B9EA-E21364FD930D}"/>
              </a:ext>
            </a:extLst>
          </p:cNvPr>
          <p:cNvSpPr/>
          <p:nvPr/>
        </p:nvSpPr>
        <p:spPr bwMode="auto">
          <a:xfrm>
            <a:off x="7745413" y="2365927"/>
            <a:ext cx="647700" cy="6143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F8CFCBC-18A5-4B54-B385-1CFFE1A27CC1}"/>
              </a:ext>
            </a:extLst>
          </p:cNvPr>
          <p:cNvSpPr/>
          <p:nvPr/>
        </p:nvSpPr>
        <p:spPr bwMode="auto">
          <a:xfrm>
            <a:off x="8496300" y="3148564"/>
            <a:ext cx="647700" cy="6143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srgbClr val="FF0000"/>
                </a:solidFill>
              </a:rPr>
              <a:t>2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3DDFA6-9F35-4753-81DE-3997B602F027}"/>
              </a:ext>
            </a:extLst>
          </p:cNvPr>
          <p:cNvCxnSpPr>
            <a:cxnSpLocks noChangeShapeType="1"/>
            <a:stCxn id="13" idx="3"/>
            <a:endCxn id="11" idx="3"/>
          </p:cNvCxnSpPr>
          <p:nvPr/>
        </p:nvCxnSpPr>
        <p:spPr bwMode="auto">
          <a:xfrm flipH="1">
            <a:off x="5268128" y="2890319"/>
            <a:ext cx="2572138" cy="40431"/>
          </a:xfrm>
          <a:prstGeom prst="straightConnector1">
            <a:avLst/>
          </a:prstGeom>
          <a:noFill/>
          <a:ln w="38100">
            <a:solidFill>
              <a:srgbClr val="31859C"/>
            </a:solidFill>
            <a:round/>
            <a:headEnd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A39E7E3-1521-477B-AB72-FA2747FBA936}"/>
              </a:ext>
            </a:extLst>
          </p:cNvPr>
          <p:cNvCxnSpPr>
            <a:cxnSpLocks noChangeShapeType="1"/>
            <a:stCxn id="14" idx="2"/>
            <a:endCxn id="12" idx="3"/>
          </p:cNvCxnSpPr>
          <p:nvPr/>
        </p:nvCxnSpPr>
        <p:spPr bwMode="auto">
          <a:xfrm flipH="1" flipV="1">
            <a:off x="7668309" y="3188734"/>
            <a:ext cx="827991" cy="267012"/>
          </a:xfrm>
          <a:prstGeom prst="straightConnector1">
            <a:avLst/>
          </a:prstGeom>
          <a:noFill/>
          <a:ln w="38100">
            <a:solidFill>
              <a:srgbClr val="31859C"/>
            </a:solidFill>
            <a:round/>
            <a:headEnd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7" name="Group 22">
            <a:extLst>
              <a:ext uri="{FF2B5EF4-FFF2-40B4-BE49-F238E27FC236}">
                <a16:creationId xmlns:a16="http://schemas.microsoft.com/office/drawing/2014/main" id="{27D92762-5F59-4531-8F00-8CD50933022E}"/>
              </a:ext>
            </a:extLst>
          </p:cNvPr>
          <p:cNvGrpSpPr>
            <a:grpSpLocks/>
          </p:cNvGrpSpPr>
          <p:nvPr/>
        </p:nvGrpSpPr>
        <p:grpSpPr bwMode="auto">
          <a:xfrm>
            <a:off x="4303695" y="3787722"/>
            <a:ext cx="4505695" cy="2654352"/>
            <a:chOff x="3974813" y="3265440"/>
            <a:chExt cx="5000157" cy="3064492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224363F-F7A0-48F4-85C6-FE044626F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4813" y="3265440"/>
              <a:ext cx="5000157" cy="815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A59F7C2-2920-4264-90C4-226B204AE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4813" y="4476673"/>
              <a:ext cx="4999798" cy="1853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TextBox 21">
              <a:extLst>
                <a:ext uri="{FF2B5EF4-FFF2-40B4-BE49-F238E27FC236}">
                  <a16:creationId xmlns:a16="http://schemas.microsoft.com/office/drawing/2014/main" id="{E60EF640-A071-4B9B-86F5-CFBEC87A05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4813" y="3899436"/>
              <a:ext cx="476412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1"/>
                <a:t>…</a:t>
              </a:r>
            </a:p>
          </p:txBody>
        </p:sp>
      </p:grpSp>
      <p:sp>
        <p:nvSpPr>
          <p:cNvPr id="21" name="TextBox 23">
            <a:extLst>
              <a:ext uri="{FF2B5EF4-FFF2-40B4-BE49-F238E27FC236}">
                <a16:creationId xmlns:a16="http://schemas.microsoft.com/office/drawing/2014/main" id="{7F0F768F-A707-44B4-B2ED-586885C77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468" y="3871496"/>
            <a:ext cx="3538537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 dirty="0">
                <a:solidFill>
                  <a:srgbClr val="0070C0"/>
                </a:solidFill>
              </a:rPr>
              <a:t>Notice that the annual salary is calculated for only employees who earn a commission.</a:t>
            </a:r>
          </a:p>
          <a:p>
            <a:pPr>
              <a:spcBef>
                <a:spcPct val="0"/>
              </a:spcBef>
            </a:pPr>
            <a:r>
              <a:rPr lang="en-US" altLang="en-US" sz="1800" dirty="0">
                <a:solidFill>
                  <a:srgbClr val="0070C0"/>
                </a:solidFill>
              </a:rPr>
              <a:t>If any column value expression is null, the result is null.</a:t>
            </a:r>
          </a:p>
          <a:p>
            <a:pPr>
              <a:spcBef>
                <a:spcPct val="0"/>
              </a:spcBef>
            </a:pPr>
            <a:r>
              <a:rPr lang="en-US" altLang="en-US" sz="1800" dirty="0">
                <a:solidFill>
                  <a:srgbClr val="0070C0"/>
                </a:solidFill>
              </a:rPr>
              <a:t>We must convert the null value to a number before applying the arithmetic operator.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64B3C98-8CCB-4F4D-A45D-92EBF9984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3199" y="4401152"/>
            <a:ext cx="429443" cy="52653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8912D71-E3C8-4572-912B-97329986E0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4021" y="4377163"/>
            <a:ext cx="415998" cy="5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292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AF9B-7403-4112-8760-C37CB3C14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the </a:t>
            </a:r>
            <a:r>
              <a:rPr lang="en-MY" dirty="0">
                <a:solidFill>
                  <a:srgbClr val="0070C0"/>
                </a:solidFill>
              </a:rPr>
              <a:t>IFNULL</a:t>
            </a:r>
            <a:r>
              <a:rPr lang="en-MY" dirty="0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E2D8E-1A20-4171-8BD1-FCE4BE9AD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the annual salary of employees. We need to multiply the monthly salary by 12 and then add the commission percentage to the result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E6BB5-4FDD-41AD-AAAD-47472A3C3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FD403E-F2E7-473C-AEEA-17A7AE9F7559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8C12D3-B6BC-42FF-B836-FB7346B81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grpSp>
        <p:nvGrpSpPr>
          <p:cNvPr id="8" name="Group 16">
            <a:extLst>
              <a:ext uri="{FF2B5EF4-FFF2-40B4-BE49-F238E27FC236}">
                <a16:creationId xmlns:a16="http://schemas.microsoft.com/office/drawing/2014/main" id="{0FF2DE5E-DD1A-49D0-8E6A-734946DCD073}"/>
              </a:ext>
            </a:extLst>
          </p:cNvPr>
          <p:cNvGrpSpPr>
            <a:grpSpLocks/>
          </p:cNvGrpSpPr>
          <p:nvPr/>
        </p:nvGrpSpPr>
        <p:grpSpPr bwMode="auto">
          <a:xfrm>
            <a:off x="728662" y="2091848"/>
            <a:ext cx="8357284" cy="1668925"/>
            <a:chOff x="653370" y="2014874"/>
            <a:chExt cx="8357466" cy="1669432"/>
          </a:xfrm>
        </p:grpSpPr>
        <p:sp>
          <p:nvSpPr>
            <p:cNvPr id="9" name="TextBox 3">
              <a:extLst>
                <a:ext uri="{FF2B5EF4-FFF2-40B4-BE49-F238E27FC236}">
                  <a16:creationId xmlns:a16="http://schemas.microsoft.com/office/drawing/2014/main" id="{381668E5-0133-4D28-A212-505BABD597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370" y="2684351"/>
              <a:ext cx="7425521" cy="831249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E2A22F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SELECT</a:t>
              </a:r>
              <a:r>
                <a:rPr lang="en-US" altLang="en-US" sz="16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 </a:t>
              </a:r>
              <a:r>
                <a:rPr lang="en-US" altLang="en-US" sz="1600" dirty="0" err="1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last_name</a:t>
              </a:r>
              <a:r>
                <a:rPr lang="en-US" altLang="en-US" sz="16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, salary, </a:t>
              </a:r>
              <a:r>
                <a:rPr lang="en-US" altLang="en-US" sz="1600" b="1" dirty="0">
                  <a:solidFill>
                    <a:srgbClr val="92D050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IFNULL</a:t>
              </a:r>
              <a:r>
                <a:rPr lang="en-US" altLang="en-US" sz="16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(commission_pct, 0)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(salary*12) + (salary * 12 * </a:t>
              </a:r>
              <a:r>
                <a:rPr lang="en-US" altLang="en-US" sz="1600" b="1" dirty="0">
                  <a:solidFill>
                    <a:srgbClr val="92D050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IFNULL</a:t>
              </a:r>
              <a:r>
                <a:rPr lang="en-US" altLang="en-US" sz="16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(commission_pct, 0)) ANN_SAL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E2A22F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FROM	</a:t>
              </a:r>
              <a:r>
                <a:rPr lang="en-US" altLang="en-US" sz="16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employees;</a:t>
              </a:r>
            </a:p>
          </p:txBody>
        </p:sp>
        <p:grpSp>
          <p:nvGrpSpPr>
            <p:cNvPr id="10" name="Group 15">
              <a:extLst>
                <a:ext uri="{FF2B5EF4-FFF2-40B4-BE49-F238E27FC236}">
                  <a16:creationId xmlns:a16="http://schemas.microsoft.com/office/drawing/2014/main" id="{9F0AD675-E458-467C-8984-BF4B305D4A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8798" y="2014874"/>
              <a:ext cx="8262038" cy="1669432"/>
              <a:chOff x="748798" y="2014874"/>
              <a:chExt cx="8262038" cy="1669432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79D44EE-BC3A-40AB-9291-302736062BE1}"/>
                  </a:ext>
                </a:extLst>
              </p:cNvPr>
              <p:cNvSpPr/>
              <p:nvPr/>
            </p:nvSpPr>
            <p:spPr>
              <a:xfrm>
                <a:off x="2856891" y="2708835"/>
                <a:ext cx="2758193" cy="26614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endParaRPr lang="en-US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0C3832F-E4F2-47FC-BD83-0D3D31DA25E7}"/>
                  </a:ext>
                </a:extLst>
              </p:cNvPr>
              <p:cNvSpPr/>
              <p:nvPr/>
            </p:nvSpPr>
            <p:spPr>
              <a:xfrm>
                <a:off x="748798" y="2974981"/>
                <a:ext cx="7225046" cy="266146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endParaRPr lang="en-US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4F341AA-42B6-4CD4-B9EA-E21364FD930D}"/>
                  </a:ext>
                </a:extLst>
              </p:cNvPr>
              <p:cNvSpPr/>
              <p:nvPr/>
            </p:nvSpPr>
            <p:spPr>
              <a:xfrm>
                <a:off x="8054225" y="2014874"/>
                <a:ext cx="647714" cy="61454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3200" b="1" dirty="0">
                    <a:solidFill>
                      <a:srgbClr val="FF0000"/>
                    </a:solidFill>
                  </a:rPr>
                  <a:t>1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F8CFCBC-18A5-4B54-B385-1CFFE1A27CC1}"/>
                  </a:ext>
                </a:extLst>
              </p:cNvPr>
              <p:cNvSpPr/>
              <p:nvPr/>
            </p:nvSpPr>
            <p:spPr>
              <a:xfrm>
                <a:off x="8363122" y="3069756"/>
                <a:ext cx="647714" cy="61455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3200" b="1" dirty="0">
                    <a:solidFill>
                      <a:srgbClr val="FF0000"/>
                    </a:solidFill>
                  </a:rPr>
                  <a:t>2</a:t>
                </a: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413DDFA6-9F35-4753-81DE-3997B602F027}"/>
                  </a:ext>
                </a:extLst>
              </p:cNvPr>
              <p:cNvCxnSpPr>
                <a:cxnSpLocks noChangeShapeType="1"/>
                <a:stCxn id="13" idx="3"/>
                <a:endCxn id="11" idx="3"/>
              </p:cNvCxnSpPr>
              <p:nvPr/>
            </p:nvCxnSpPr>
            <p:spPr bwMode="auto">
              <a:xfrm flipH="1">
                <a:off x="5615084" y="2539424"/>
                <a:ext cx="2533996" cy="302484"/>
              </a:xfrm>
              <a:prstGeom prst="straightConnector1">
                <a:avLst/>
              </a:prstGeom>
              <a:noFill/>
              <a:ln w="38100">
                <a:solidFill>
                  <a:srgbClr val="31859C"/>
                </a:solidFill>
                <a:round/>
                <a:headEnd/>
                <a:tailEnd type="triangle" w="med" len="med"/>
              </a:ln>
              <a:effectLst>
                <a:outerShdw blurRad="40000" dist="23000" dir="5400000" rotWithShape="0">
                  <a:srgbClr val="808080">
                    <a:alpha val="34998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9A39E7E3-1521-477B-AB72-FA2747FBA936}"/>
                  </a:ext>
                </a:extLst>
              </p:cNvPr>
              <p:cNvCxnSpPr>
                <a:cxnSpLocks noChangeShapeType="1"/>
                <a:stCxn id="14" idx="2"/>
                <a:endCxn id="12" idx="3"/>
              </p:cNvCxnSpPr>
              <p:nvPr/>
            </p:nvCxnSpPr>
            <p:spPr bwMode="auto">
              <a:xfrm flipH="1" flipV="1">
                <a:off x="7973844" y="3108054"/>
                <a:ext cx="389277" cy="268977"/>
              </a:xfrm>
              <a:prstGeom prst="straightConnector1">
                <a:avLst/>
              </a:prstGeom>
              <a:noFill/>
              <a:ln w="38100">
                <a:solidFill>
                  <a:srgbClr val="31859C"/>
                </a:solidFill>
                <a:round/>
                <a:headEnd/>
                <a:tailEnd type="triangle" w="med" len="med"/>
              </a:ln>
              <a:effectLst>
                <a:outerShdw blurRad="40000" dist="23000" dir="5400000" rotWithShape="0">
                  <a:srgbClr val="808080">
                    <a:alpha val="34998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27" name="Group 14">
            <a:extLst>
              <a:ext uri="{FF2B5EF4-FFF2-40B4-BE49-F238E27FC236}">
                <a16:creationId xmlns:a16="http://schemas.microsoft.com/office/drawing/2014/main" id="{AE4E3FE5-613E-4457-A0D6-E80FB0FF826B}"/>
              </a:ext>
            </a:extLst>
          </p:cNvPr>
          <p:cNvGrpSpPr>
            <a:grpSpLocks/>
          </p:cNvGrpSpPr>
          <p:nvPr/>
        </p:nvGrpSpPr>
        <p:grpSpPr bwMode="auto">
          <a:xfrm>
            <a:off x="4426743" y="3821094"/>
            <a:ext cx="4507178" cy="2574767"/>
            <a:chOff x="3711765" y="3228814"/>
            <a:chExt cx="5357116" cy="3061323"/>
          </a:xfrm>
        </p:grpSpPr>
        <p:pic>
          <p:nvPicPr>
            <p:cNvPr id="28" name="Picture 4">
              <a:extLst>
                <a:ext uri="{FF2B5EF4-FFF2-40B4-BE49-F238E27FC236}">
                  <a16:creationId xmlns:a16="http://schemas.microsoft.com/office/drawing/2014/main" id="{621BEC05-8E42-4C77-A5F5-D7EE32E3D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1765" y="3228814"/>
              <a:ext cx="5357116" cy="7596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" name="Picture 9">
              <a:extLst>
                <a:ext uri="{FF2B5EF4-FFF2-40B4-BE49-F238E27FC236}">
                  <a16:creationId xmlns:a16="http://schemas.microsoft.com/office/drawing/2014/main" id="{9A474804-3330-4976-8CF7-C9FBED65B2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1765" y="4478363"/>
              <a:ext cx="5357116" cy="181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TextBox 11">
              <a:extLst>
                <a:ext uri="{FF2B5EF4-FFF2-40B4-BE49-F238E27FC236}">
                  <a16:creationId xmlns:a16="http://schemas.microsoft.com/office/drawing/2014/main" id="{385644F8-A9A6-4A4D-B5B7-411E293498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1765" y="3907088"/>
              <a:ext cx="476412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1"/>
                <a:t>…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3F7C52B-A3C1-4496-8590-05E881B0C294}"/>
                </a:ext>
              </a:extLst>
            </p:cNvPr>
            <p:cNvSpPr/>
            <p:nvPr/>
          </p:nvSpPr>
          <p:spPr>
            <a:xfrm>
              <a:off x="7029208" y="4024314"/>
              <a:ext cx="436506" cy="34932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B49E71-F382-4F62-B9E5-A2F5FBF9C8E8}"/>
                </a:ext>
              </a:extLst>
            </p:cNvPr>
            <p:cNvSpPr/>
            <p:nvPr/>
          </p:nvSpPr>
          <p:spPr>
            <a:xfrm>
              <a:off x="8446662" y="4024314"/>
              <a:ext cx="436505" cy="34932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33" name="TextBox 23">
            <a:extLst>
              <a:ext uri="{FF2B5EF4-FFF2-40B4-BE49-F238E27FC236}">
                <a16:creationId xmlns:a16="http://schemas.microsoft.com/office/drawing/2014/main" id="{A1B98EA8-8345-40D2-A759-79E7BD953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515" y="3906978"/>
            <a:ext cx="3538537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 dirty="0"/>
              <a:t>Notice that the annual salary is calculated for only employees who earn a commission.</a:t>
            </a:r>
          </a:p>
          <a:p>
            <a:pPr>
              <a:spcBef>
                <a:spcPct val="0"/>
              </a:spcBef>
            </a:pPr>
            <a:r>
              <a:rPr lang="en-US" altLang="en-US" sz="1800" dirty="0"/>
              <a:t>If any column value expression is null, the result is null.</a:t>
            </a:r>
          </a:p>
          <a:p>
            <a:pPr>
              <a:spcBef>
                <a:spcPct val="0"/>
              </a:spcBef>
            </a:pPr>
            <a:r>
              <a:rPr lang="en-US" altLang="en-US" sz="1800" dirty="0"/>
              <a:t>We must convert the null value to a number before applying the arithmetic operator.</a:t>
            </a:r>
          </a:p>
        </p:txBody>
      </p:sp>
    </p:spTree>
    <p:extLst>
      <p:ext uri="{BB962C8B-B14F-4D97-AF65-F5344CB8AC3E}">
        <p14:creationId xmlns:p14="http://schemas.microsoft.com/office/powerpoint/2010/main" val="1532063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32598-403E-4965-AF65-FBEF2ECA6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0070C0"/>
                </a:solidFill>
              </a:rPr>
              <a:t>IF</a:t>
            </a:r>
            <a:r>
              <a:rPr lang="en-MY" dirty="0"/>
              <a:t> (MySQL) / </a:t>
            </a:r>
            <a:r>
              <a:rPr lang="en-MY" dirty="0">
                <a:solidFill>
                  <a:srgbClr val="0070C0"/>
                </a:solidFill>
              </a:rPr>
              <a:t>NVL2</a:t>
            </a:r>
            <a:r>
              <a:rPr lang="en-MY" dirty="0"/>
              <a:t> (Oracle)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7F959-44E8-42CD-AA8F-C02EDA9B1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0070C0"/>
                </a:solidFill>
              </a:rPr>
              <a:t>IF</a:t>
            </a:r>
            <a:r>
              <a:rPr lang="en-US" dirty="0"/>
              <a:t> function examines the first expression</a:t>
            </a:r>
          </a:p>
          <a:p>
            <a:r>
              <a:rPr lang="en-US" dirty="0"/>
              <a:t>If the first expression is not null, the </a:t>
            </a:r>
            <a:r>
              <a:rPr lang="en-US" b="1" dirty="0">
                <a:solidFill>
                  <a:srgbClr val="0070C0"/>
                </a:solidFill>
              </a:rPr>
              <a:t>IF</a:t>
            </a:r>
            <a:r>
              <a:rPr lang="en-US" dirty="0"/>
              <a:t> function returns the second expression</a:t>
            </a:r>
          </a:p>
          <a:p>
            <a:r>
              <a:rPr lang="en-US" dirty="0"/>
              <a:t>If the first expression is null, the third expression is returned</a:t>
            </a:r>
          </a:p>
          <a:p>
            <a:r>
              <a:rPr lang="en-US" dirty="0"/>
              <a:t>Syntax:	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IF</a:t>
            </a:r>
            <a:r>
              <a:rPr lang="en-US" dirty="0"/>
              <a:t> (</a:t>
            </a:r>
            <a:r>
              <a:rPr lang="en-US" b="1" dirty="0">
                <a:solidFill>
                  <a:srgbClr val="830E3E"/>
                </a:solidFill>
              </a:rPr>
              <a:t>expr1</a:t>
            </a:r>
            <a:r>
              <a:rPr lang="en-US" dirty="0"/>
              <a:t>, </a:t>
            </a:r>
            <a:r>
              <a:rPr lang="en-US" b="1" dirty="0">
                <a:solidFill>
                  <a:srgbClr val="830E3E"/>
                </a:solidFill>
              </a:rPr>
              <a:t>expr2</a:t>
            </a:r>
            <a:r>
              <a:rPr lang="en-US" dirty="0"/>
              <a:t>, </a:t>
            </a:r>
            <a:r>
              <a:rPr lang="en-US" b="1" dirty="0">
                <a:solidFill>
                  <a:srgbClr val="830E3E"/>
                </a:solidFill>
              </a:rPr>
              <a:t>expr3</a:t>
            </a:r>
            <a:r>
              <a:rPr lang="en-US" dirty="0"/>
              <a:t>) / </a:t>
            </a:r>
            <a:r>
              <a:rPr lang="en-US" b="1" dirty="0">
                <a:solidFill>
                  <a:srgbClr val="0070C0"/>
                </a:solidFill>
              </a:rPr>
              <a:t>NVL2</a:t>
            </a:r>
            <a:r>
              <a:rPr lang="en-US" dirty="0"/>
              <a:t> (</a:t>
            </a:r>
            <a:r>
              <a:rPr lang="en-US" b="1" dirty="0">
                <a:solidFill>
                  <a:srgbClr val="830E3E"/>
                </a:solidFill>
              </a:rPr>
              <a:t>expr1</a:t>
            </a:r>
            <a:r>
              <a:rPr lang="en-US" dirty="0"/>
              <a:t>, </a:t>
            </a:r>
            <a:r>
              <a:rPr lang="en-US" b="1" dirty="0">
                <a:solidFill>
                  <a:srgbClr val="830E3E"/>
                </a:solidFill>
              </a:rPr>
              <a:t>expr2</a:t>
            </a:r>
            <a:r>
              <a:rPr lang="en-US" dirty="0"/>
              <a:t>, </a:t>
            </a:r>
            <a:r>
              <a:rPr lang="en-US" b="1" dirty="0">
                <a:solidFill>
                  <a:srgbClr val="830E3E"/>
                </a:solidFill>
              </a:rPr>
              <a:t>expr3</a:t>
            </a:r>
            <a:r>
              <a:rPr lang="en-US" dirty="0"/>
              <a:t>) </a:t>
            </a:r>
          </a:p>
          <a:p>
            <a:pPr lvl="1"/>
            <a:r>
              <a:rPr lang="en-US" b="1" dirty="0">
                <a:solidFill>
                  <a:srgbClr val="830E3E"/>
                </a:solidFill>
              </a:rPr>
              <a:t>expr1</a:t>
            </a:r>
            <a:r>
              <a:rPr lang="en-US" dirty="0"/>
              <a:t> is the source value or expression that may contain a null</a:t>
            </a:r>
          </a:p>
          <a:p>
            <a:pPr lvl="1"/>
            <a:r>
              <a:rPr lang="en-US" b="1" dirty="0">
                <a:solidFill>
                  <a:srgbClr val="830E3E"/>
                </a:solidFill>
              </a:rPr>
              <a:t>expr2</a:t>
            </a:r>
            <a:r>
              <a:rPr lang="en-US" dirty="0"/>
              <a:t> is the value returned if expr1 is not null</a:t>
            </a:r>
          </a:p>
          <a:p>
            <a:pPr lvl="1"/>
            <a:r>
              <a:rPr lang="en-US" b="1" dirty="0">
                <a:solidFill>
                  <a:srgbClr val="830E3E"/>
                </a:solidFill>
              </a:rPr>
              <a:t>expr3</a:t>
            </a:r>
            <a:r>
              <a:rPr lang="en-US" dirty="0"/>
              <a:t> is the value returned if expr1 is null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33AF8-F133-4411-BCA4-231BEEAA8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17600C-6C03-4305-B0CC-6A4FA335D01E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6EB8AD-8B38-4982-912F-FAAF8DEE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211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73A02-DD4D-4F88-9742-9D3E38CF7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0070C0"/>
                </a:solidFill>
              </a:rPr>
              <a:t>IF</a:t>
            </a:r>
            <a:r>
              <a:rPr lang="en-MY" dirty="0"/>
              <a:t> (MySQL) / </a:t>
            </a:r>
            <a:r>
              <a:rPr lang="en-MY" dirty="0">
                <a:solidFill>
                  <a:srgbClr val="0070C0"/>
                </a:solidFill>
              </a:rPr>
              <a:t>NVL2</a:t>
            </a:r>
            <a:r>
              <a:rPr lang="en-MY" dirty="0"/>
              <a:t> (Oracle)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777AB-8DDE-4A13-872E-A3F7E17D5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commission_pct column is examined.</a:t>
            </a:r>
          </a:p>
          <a:p>
            <a:pPr lvl="1"/>
            <a:r>
              <a:rPr lang="en-US" dirty="0"/>
              <a:t>If a value is detected, the text literal value of </a:t>
            </a:r>
            <a:r>
              <a:rPr lang="en-US" dirty="0" err="1">
                <a:highlight>
                  <a:srgbClr val="FFFF00"/>
                </a:highlight>
              </a:rPr>
              <a:t>salary+commission_pct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/>
              <a:t>is returned</a:t>
            </a:r>
          </a:p>
          <a:p>
            <a:pPr lvl="1"/>
            <a:r>
              <a:rPr lang="en-US" dirty="0"/>
              <a:t>If the commission_pct column contains a null value, the text literal value of </a:t>
            </a:r>
            <a:r>
              <a:rPr lang="en-US" dirty="0">
                <a:highlight>
                  <a:srgbClr val="FFFF00"/>
                </a:highlight>
              </a:rPr>
              <a:t>salary</a:t>
            </a:r>
            <a:r>
              <a:rPr lang="en-US" dirty="0"/>
              <a:t> is returned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5A88E-41A4-4B05-990D-E5D675876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83F871-B10A-4D1A-ABBF-37E1400382E7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2B37D5-CBE4-46A2-A126-4807E083A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grpSp>
        <p:nvGrpSpPr>
          <p:cNvPr id="9" name="Group 18">
            <a:extLst>
              <a:ext uri="{FF2B5EF4-FFF2-40B4-BE49-F238E27FC236}">
                <a16:creationId xmlns:a16="http://schemas.microsoft.com/office/drawing/2014/main" id="{D456F0FE-77CC-4889-8199-8DBEE405056B}"/>
              </a:ext>
            </a:extLst>
          </p:cNvPr>
          <p:cNvGrpSpPr>
            <a:grpSpLocks/>
          </p:cNvGrpSpPr>
          <p:nvPr/>
        </p:nvGrpSpPr>
        <p:grpSpPr bwMode="auto">
          <a:xfrm>
            <a:off x="1242242" y="3014238"/>
            <a:ext cx="7491628" cy="1489517"/>
            <a:chOff x="1790791" y="2590676"/>
            <a:chExt cx="7491996" cy="1490646"/>
          </a:xfrm>
        </p:grpSpPr>
        <p:sp>
          <p:nvSpPr>
            <p:cNvPr id="10" name="TextBox 3">
              <a:extLst>
                <a:ext uri="{FF2B5EF4-FFF2-40B4-BE49-F238E27FC236}">
                  <a16:creationId xmlns:a16="http://schemas.microsoft.com/office/drawing/2014/main" id="{3DB387C4-A603-4BE3-B588-FA2F890069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0791" y="2880084"/>
              <a:ext cx="6429930" cy="1201238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rgbClr val="E2A22F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SELECT</a:t>
              </a:r>
              <a:r>
                <a:rPr lang="en-US" altLang="en-US" sz="18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 </a:t>
              </a:r>
              <a:r>
                <a:rPr lang="en-US" altLang="en-US" sz="1800" dirty="0" err="1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last_name</a:t>
              </a:r>
              <a:r>
                <a:rPr lang="en-US" altLang="en-US" sz="18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, salary, </a:t>
              </a:r>
              <a:r>
                <a:rPr lang="en-US" altLang="en-US" sz="1800" dirty="0" err="1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commission_pct</a:t>
              </a:r>
              <a:r>
                <a:rPr lang="en-US" altLang="en-US" sz="18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,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rgbClr val="92D050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IF</a:t>
              </a:r>
              <a:r>
                <a:rPr lang="en-US" altLang="en-US" sz="18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(</a:t>
              </a:r>
              <a:r>
                <a:rPr lang="en-US" altLang="en-US" sz="1800" dirty="0" err="1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commission_pct</a:t>
              </a:r>
              <a:r>
                <a:rPr lang="en-US" altLang="en-US" sz="18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, ‘SAL+COMM’, ‘SAL’) income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rgbClr val="E2A22F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FROM</a:t>
              </a:r>
              <a:r>
                <a:rPr lang="en-US" altLang="en-US" sz="18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 	employees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rgbClr val="E2A22F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WHERE</a:t>
              </a:r>
              <a:r>
                <a:rPr lang="en-US" altLang="en-US" sz="18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 	</a:t>
              </a:r>
              <a:r>
                <a:rPr lang="en-US" altLang="en-US" sz="1800" dirty="0" err="1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department_id</a:t>
              </a:r>
              <a:r>
                <a:rPr lang="en-US" altLang="en-US" sz="1800" dirty="0">
                  <a:solidFill>
                    <a:schemeClr val="bg1"/>
                  </a:solidFill>
                  <a:latin typeface="Cascadia Code" panose="020B0509020204030204" pitchFamily="49" charset="0"/>
                  <a:cs typeface="Calibri" panose="020F0502020204030204" pitchFamily="34" charset="0"/>
                </a:rPr>
                <a:t> IN (50, 80);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ACB0CE8-7E57-4F99-B4EA-11D3955BBF02}"/>
                </a:ext>
              </a:extLst>
            </p:cNvPr>
            <p:cNvSpPr/>
            <p:nvPr/>
          </p:nvSpPr>
          <p:spPr>
            <a:xfrm>
              <a:off x="4266028" y="2886615"/>
              <a:ext cx="2999137" cy="2955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76D61FA-CCDE-40DE-AB97-DA19071D26E3}"/>
                </a:ext>
              </a:extLst>
            </p:cNvPr>
            <p:cNvSpPr/>
            <p:nvPr/>
          </p:nvSpPr>
          <p:spPr>
            <a:xfrm>
              <a:off x="1860530" y="3205151"/>
              <a:ext cx="6165084" cy="2955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>
                <a:solidFill>
                  <a:srgbClr val="FFFFFF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083EBDF-38E1-45E6-831D-0AD80C819B43}"/>
                </a:ext>
              </a:extLst>
            </p:cNvPr>
            <p:cNvSpPr/>
            <p:nvPr/>
          </p:nvSpPr>
          <p:spPr>
            <a:xfrm>
              <a:off x="8679932" y="2590676"/>
              <a:ext cx="511200" cy="4623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3200" b="1" dirty="0">
                  <a:solidFill>
                    <a:srgbClr val="FF0000"/>
                  </a:solidFill>
                </a:rPr>
                <a:t>1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D128D29-6103-41D7-84EA-B3E2FC5780CC}"/>
                </a:ext>
              </a:extLst>
            </p:cNvPr>
            <p:cNvCxnSpPr>
              <a:cxnSpLocks noChangeShapeType="1"/>
              <a:stCxn id="13" idx="2"/>
              <a:endCxn id="11" idx="3"/>
            </p:cNvCxnSpPr>
            <p:nvPr/>
          </p:nvCxnSpPr>
          <p:spPr bwMode="auto">
            <a:xfrm flipH="1">
              <a:off x="7265165" y="2821833"/>
              <a:ext cx="1414767" cy="212532"/>
            </a:xfrm>
            <a:prstGeom prst="straightConnector1">
              <a:avLst/>
            </a:prstGeom>
            <a:noFill/>
            <a:ln w="38100">
              <a:solidFill>
                <a:srgbClr val="31859C"/>
              </a:solidFill>
              <a:round/>
              <a:headEnd/>
              <a:tailEnd type="triangle" w="med" len="med"/>
            </a:ln>
            <a:effectLst>
              <a:outerShdw blurRad="40000" dist="23000" dir="5400000" rotWithShape="0">
                <a:srgbClr val="808080">
                  <a:alpha val="34998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D6294A6-1E1E-49D9-BD75-EDA31EBA423E}"/>
                </a:ext>
              </a:extLst>
            </p:cNvPr>
            <p:cNvSpPr/>
            <p:nvPr/>
          </p:nvSpPr>
          <p:spPr>
            <a:xfrm>
              <a:off x="8795401" y="3174966"/>
              <a:ext cx="487386" cy="50997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3200" b="1" dirty="0">
                  <a:solidFill>
                    <a:srgbClr val="FF0000"/>
                  </a:solidFill>
                </a:rPr>
                <a:t>2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BE5530C-907B-4FB9-AD34-84ECBA0CBB4A}"/>
                </a:ext>
              </a:extLst>
            </p:cNvPr>
            <p:cNvCxnSpPr>
              <a:cxnSpLocks noChangeShapeType="1"/>
              <a:stCxn id="15" idx="2"/>
              <a:endCxn id="12" idx="3"/>
            </p:cNvCxnSpPr>
            <p:nvPr/>
          </p:nvCxnSpPr>
          <p:spPr bwMode="auto">
            <a:xfrm flipH="1" flipV="1">
              <a:off x="8025614" y="3352901"/>
              <a:ext cx="769787" cy="77051"/>
            </a:xfrm>
            <a:prstGeom prst="straightConnector1">
              <a:avLst/>
            </a:prstGeom>
            <a:noFill/>
            <a:ln w="38100">
              <a:solidFill>
                <a:srgbClr val="31859C"/>
              </a:solidFill>
              <a:round/>
              <a:headEnd/>
              <a:tailEnd type="triangle" w="med" len="med"/>
            </a:ln>
            <a:effectLst>
              <a:outerShdw blurRad="40000" dist="23000" dir="5400000" rotWithShape="0">
                <a:srgbClr val="808080">
                  <a:alpha val="34998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" name="Group 23">
            <a:extLst>
              <a:ext uri="{FF2B5EF4-FFF2-40B4-BE49-F238E27FC236}">
                <a16:creationId xmlns:a16="http://schemas.microsoft.com/office/drawing/2014/main" id="{249AE5E8-2A6A-4254-ACF1-89399BEAE261}"/>
              </a:ext>
            </a:extLst>
          </p:cNvPr>
          <p:cNvGrpSpPr>
            <a:grpSpLocks/>
          </p:cNvGrpSpPr>
          <p:nvPr/>
        </p:nvGrpSpPr>
        <p:grpSpPr bwMode="auto">
          <a:xfrm>
            <a:off x="4901844" y="4503673"/>
            <a:ext cx="3904167" cy="1904272"/>
            <a:chOff x="1691680" y="4141203"/>
            <a:chExt cx="4537427" cy="2212627"/>
          </a:xfrm>
        </p:grpSpPr>
        <p:pic>
          <p:nvPicPr>
            <p:cNvPr id="18" name="Picture 19">
              <a:extLst>
                <a:ext uri="{FF2B5EF4-FFF2-40B4-BE49-F238E27FC236}">
                  <a16:creationId xmlns:a16="http://schemas.microsoft.com/office/drawing/2014/main" id="{F1E369E0-5890-406E-BDDB-CAB6D9113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1680" y="4141203"/>
              <a:ext cx="4536504" cy="2212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306C456-0540-4D3D-8D60-95611A7D4384}"/>
                </a:ext>
              </a:extLst>
            </p:cNvPr>
            <p:cNvSpPr/>
            <p:nvPr/>
          </p:nvSpPr>
          <p:spPr>
            <a:xfrm>
              <a:off x="4101692" y="4465002"/>
              <a:ext cx="511215" cy="46347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32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DC4D414-5309-4E60-8119-AD4D1D680888}"/>
                </a:ext>
              </a:extLst>
            </p:cNvPr>
            <p:cNvSpPr/>
            <p:nvPr/>
          </p:nvSpPr>
          <p:spPr>
            <a:xfrm>
              <a:off x="5741706" y="4441194"/>
              <a:ext cx="487401" cy="50950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3200" b="1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2CCD569-B242-4D08-8929-AFF13CFFAB71}"/>
              </a:ext>
            </a:extLst>
          </p:cNvPr>
          <p:cNvSpPr txBox="1"/>
          <p:nvPr/>
        </p:nvSpPr>
        <p:spPr>
          <a:xfrm>
            <a:off x="452437" y="4600574"/>
            <a:ext cx="41595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="1" dirty="0"/>
              <a:t>Note: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The argument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expr1</a:t>
            </a:r>
            <a:r>
              <a:rPr lang="en-US" dirty="0"/>
              <a:t> can have any data type.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The argument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expr2</a:t>
            </a:r>
            <a:r>
              <a:rPr lang="en-US" dirty="0"/>
              <a:t>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expr3</a:t>
            </a:r>
            <a:r>
              <a:rPr lang="en-US" dirty="0"/>
              <a:t> can have any data types except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</a:p>
        </p:txBody>
      </p:sp>
    </p:spTree>
    <p:extLst>
      <p:ext uri="{BB962C8B-B14F-4D97-AF65-F5344CB8AC3E}">
        <p14:creationId xmlns:p14="http://schemas.microsoft.com/office/powerpoint/2010/main" val="139662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9A248-FE41-4E08-B55B-47039116D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Aggregate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1741F-AC47-4B44-B5CA-4A76C1A7E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Cascadia Code" panose="020B0509020204030204" pitchFamily="49" charset="0"/>
              </a:rPr>
              <a:t>COUNT</a:t>
            </a:r>
            <a:r>
              <a:rPr lang="en-US" dirty="0">
                <a:latin typeface="Cascadia Code" panose="020B0509020204030204" pitchFamily="49" charset="0"/>
              </a:rPr>
              <a:t>(column)</a:t>
            </a:r>
          </a:p>
          <a:p>
            <a:pPr lvl="1"/>
            <a:r>
              <a:rPr lang="en-US" dirty="0"/>
              <a:t>Returns the number of rows with non-null values for the column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List the total number of employees who receive commissions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3651E-7E0C-4D6B-90D0-E39781FE9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9EA42E-E619-4362-8E3C-4BFDE41CC807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B94E8-B1F9-4DDA-861C-3D4023974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603AB8-A1EA-4716-8372-3F66B7CE68B2}"/>
              </a:ext>
            </a:extLst>
          </p:cNvPr>
          <p:cNvSpPr/>
          <p:nvPr/>
        </p:nvSpPr>
        <p:spPr>
          <a:xfrm>
            <a:off x="1310955" y="3429000"/>
            <a:ext cx="6522090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COUNT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(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commission_pct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) FROM 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employees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;</a:t>
            </a: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28A51F5D-4D0D-493C-9CAB-BFB98E863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912" y="3970853"/>
            <a:ext cx="5210175" cy="203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2907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9A248-FE41-4E08-B55B-47039116D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Aggregate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1741F-AC47-4B44-B5CA-4A76C1A7E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Cascadia Code" panose="020B0509020204030204" pitchFamily="49" charset="0"/>
              </a:rPr>
              <a:t>COUNT</a:t>
            </a:r>
            <a:r>
              <a:rPr lang="en-US" dirty="0">
                <a:latin typeface="Cascadia Code" panose="020B0509020204030204" pitchFamily="49" charset="0"/>
              </a:rPr>
              <a:t>(*)</a:t>
            </a:r>
          </a:p>
          <a:p>
            <a:pPr lvl="1"/>
            <a:r>
              <a:rPr lang="en-US" dirty="0"/>
              <a:t>Return number of records (rows) in the table</a:t>
            </a:r>
          </a:p>
          <a:p>
            <a:pPr lvl="1"/>
            <a:r>
              <a:rPr lang="en-US" dirty="0"/>
              <a:t>Includes duplicate rows and rows with NULL values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List the total number of employees in department number 10.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3651E-7E0C-4D6B-90D0-E39781FE9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A8180D-1A04-47B7-B0CF-040282822D70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B94E8-B1F9-4DDA-861C-3D4023974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603AB8-A1EA-4716-8372-3F66B7CE68B2}"/>
              </a:ext>
            </a:extLst>
          </p:cNvPr>
          <p:cNvSpPr/>
          <p:nvPr/>
        </p:nvSpPr>
        <p:spPr>
          <a:xfrm>
            <a:off x="1310954" y="3601521"/>
            <a:ext cx="6534824" cy="92333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COUNT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(</a:t>
            </a:r>
            <a:r>
              <a:rPr lang="en-US" b="1" dirty="0">
                <a:solidFill>
                  <a:schemeClr val="bg1"/>
                </a:solidFill>
                <a:latin typeface="Cascadia Code" panose="020B0509020204030204" pitchFamily="49" charset="0"/>
              </a:rPr>
              <a:t>*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) AS 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“No of Employees” 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 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employees</a:t>
            </a:r>
            <a:endParaRPr lang="en-US" b="1" dirty="0">
              <a:solidFill>
                <a:srgbClr val="E2A22F"/>
              </a:solidFill>
              <a:latin typeface="Cascadia Code" panose="020B0509020204030204" pitchFamily="49" charset="0"/>
            </a:endParaRP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 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department_id = 10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;</a:t>
            </a:r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AC6BEF75-C813-4071-83DC-CF469E3F3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804" y="4704108"/>
            <a:ext cx="3592563" cy="1293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9519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9B466-78E1-4649-9CE9-3A08E7071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Aggregate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3AD94-81B7-49B2-A591-DD1301BD9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List the average, sum, minimum and maximum salary for employees in department number 80.</a:t>
            </a:r>
          </a:p>
          <a:p>
            <a:pPr lvl="2"/>
            <a:r>
              <a:rPr lang="en-US" dirty="0"/>
              <a:t>Department number 80 has 34 employees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8B278-1C04-4618-BBEE-4E8E63808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D76B25-E8D4-4DFC-BC1F-ECB461FB3B0D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B51EC5-1E3B-4BBA-8D4B-9A1111A38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0B7E1D-8CAA-4280-8515-F197260D3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543" y="4529169"/>
            <a:ext cx="5858693" cy="127652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F30653E-9F2A-4DC1-BB25-78F37E613620}"/>
              </a:ext>
            </a:extLst>
          </p:cNvPr>
          <p:cNvSpPr/>
          <p:nvPr/>
        </p:nvSpPr>
        <p:spPr>
          <a:xfrm>
            <a:off x="985701" y="3289927"/>
            <a:ext cx="7523323" cy="92333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AVG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(salary),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MIN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(salary),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MAX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(salary),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SUM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(salary)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 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department_id=80;</a:t>
            </a:r>
          </a:p>
        </p:txBody>
      </p:sp>
    </p:spTree>
    <p:extLst>
      <p:ext uri="{BB962C8B-B14F-4D97-AF65-F5344CB8AC3E}">
        <p14:creationId xmlns:p14="http://schemas.microsoft.com/office/powerpoint/2010/main" val="1253747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AFE01-B796-49F5-90C1-EBE38A36B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Groups of Data – </a:t>
            </a:r>
            <a:r>
              <a:rPr lang="en-US" dirty="0">
                <a:solidFill>
                  <a:srgbClr val="0070C0"/>
                </a:solidFill>
              </a:rPr>
              <a:t>GROUP BY</a:t>
            </a:r>
            <a:endParaRPr lang="en-MY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57FD2-8164-4270-A4EC-53629DF02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divide rows in a table into smaller groups by using the </a:t>
            </a:r>
            <a:r>
              <a:rPr lang="en-US" b="1" dirty="0">
                <a:solidFill>
                  <a:srgbClr val="0070C0"/>
                </a:solidFill>
              </a:rPr>
              <a:t>GROUP BY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clause.</a:t>
            </a:r>
          </a:p>
          <a:p>
            <a:r>
              <a:rPr lang="en-US" dirty="0"/>
              <a:t>All columns in the </a:t>
            </a:r>
            <a:r>
              <a:rPr lang="en-US" b="1" dirty="0">
                <a:solidFill>
                  <a:srgbClr val="0070C0"/>
                </a:solidFill>
              </a:rPr>
              <a:t>SELECT</a:t>
            </a:r>
            <a:r>
              <a:rPr lang="en-US" dirty="0"/>
              <a:t> list that are not in group functions must be in the </a:t>
            </a:r>
            <a:r>
              <a:rPr lang="en-US" b="1" dirty="0">
                <a:solidFill>
                  <a:srgbClr val="0070C0"/>
                </a:solidFill>
              </a:rPr>
              <a:t>GROUP BY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clause.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49C85-8B9D-4383-A619-43243BEDC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34DF2D2-413E-49F6-963E-B3182293CD68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E341E-9B60-45A4-8CA9-20B6DE29F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8FA9C0-D663-4DC6-AEB5-93898EE29B0D}"/>
              </a:ext>
            </a:extLst>
          </p:cNvPr>
          <p:cNvSpPr/>
          <p:nvPr/>
        </p:nvSpPr>
        <p:spPr>
          <a:xfrm>
            <a:off x="985701" y="3289927"/>
            <a:ext cx="7523323" cy="14773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	column, </a:t>
            </a:r>
            <a:r>
              <a:rPr lang="en-US" dirty="0" err="1">
                <a:solidFill>
                  <a:schemeClr val="bg1"/>
                </a:solidFill>
                <a:latin typeface="Cascadia Code" panose="020B0509020204030204" pitchFamily="49" charset="0"/>
              </a:rPr>
              <a:t>group_function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(column)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 	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	table</a:t>
            </a:r>
          </a:p>
          <a:p>
            <a:pPr marL="0" lvl="1"/>
            <a:r>
              <a:rPr lang="en-US" dirty="0">
                <a:solidFill>
                  <a:srgbClr val="92D050"/>
                </a:solidFill>
                <a:latin typeface="Cascadia Code" panose="020B0509020204030204" pitchFamily="49" charset="0"/>
              </a:rPr>
              <a:t>[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	condition</a:t>
            </a:r>
            <a:r>
              <a:rPr lang="en-US" dirty="0">
                <a:solidFill>
                  <a:srgbClr val="92D050"/>
                </a:solidFill>
                <a:latin typeface="Cascadia Code" panose="020B0509020204030204" pitchFamily="49" charset="0"/>
              </a:rPr>
              <a:t>]</a:t>
            </a:r>
          </a:p>
          <a:p>
            <a:pPr marL="0" lvl="1"/>
            <a:r>
              <a:rPr lang="en-US" dirty="0">
                <a:solidFill>
                  <a:srgbClr val="92D050"/>
                </a:solidFill>
                <a:latin typeface="Cascadia Code" panose="020B0509020204030204" pitchFamily="49" charset="0"/>
              </a:rPr>
              <a:t>[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GROUP BY 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	</a:t>
            </a:r>
            <a:r>
              <a:rPr lang="en-US" dirty="0" err="1">
                <a:solidFill>
                  <a:schemeClr val="bg1"/>
                </a:solidFill>
                <a:latin typeface="Cascadia Code" panose="020B0509020204030204" pitchFamily="49" charset="0"/>
              </a:rPr>
              <a:t>group_by_expression</a:t>
            </a:r>
            <a:r>
              <a:rPr lang="en-US" dirty="0">
                <a:solidFill>
                  <a:srgbClr val="92D050"/>
                </a:solidFill>
                <a:latin typeface="Cascadia Code" panose="020B0509020204030204" pitchFamily="49" charset="0"/>
              </a:rPr>
              <a:t>]</a:t>
            </a:r>
          </a:p>
          <a:p>
            <a:pPr marL="0" lvl="1"/>
            <a:r>
              <a:rPr lang="en-US" dirty="0">
                <a:solidFill>
                  <a:srgbClr val="92D050"/>
                </a:solidFill>
                <a:latin typeface="Cascadia Code" panose="020B0509020204030204" pitchFamily="49" charset="0"/>
              </a:rPr>
              <a:t>[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ORDER BY 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	column</a:t>
            </a:r>
            <a:r>
              <a:rPr lang="en-US" dirty="0">
                <a:solidFill>
                  <a:srgbClr val="92D050"/>
                </a:solidFill>
                <a:latin typeface="Cascadia Code" panose="020B05090202040302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1731E7-FB47-4F01-B098-D2CAFC2B5990}"/>
              </a:ext>
            </a:extLst>
          </p:cNvPr>
          <p:cNvSpPr/>
          <p:nvPr/>
        </p:nvSpPr>
        <p:spPr>
          <a:xfrm>
            <a:off x="6867549" y="4767255"/>
            <a:ext cx="1641475" cy="330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chemeClr val="tx1"/>
                </a:solidFill>
              </a:rPr>
              <a:t>[ ]</a:t>
            </a:r>
            <a:r>
              <a:rPr lang="en-MY" b="1" dirty="0"/>
              <a:t> = </a:t>
            </a:r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OPTIONAL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46706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C55CB-4607-4837-99CB-463E692DD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Groups of Data – </a:t>
            </a:r>
            <a:r>
              <a:rPr lang="en-US" dirty="0">
                <a:solidFill>
                  <a:srgbClr val="0070C0"/>
                </a:solidFill>
              </a:rPr>
              <a:t>GROUP BY</a:t>
            </a:r>
            <a:endParaRPr lang="en-MY" dirty="0">
              <a:solidFill>
                <a:srgbClr val="0070C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9193B-E78C-4A19-A3EA-503196A81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4B9E51-03AD-4783-A2B6-73962EAF9387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452522-6FBF-49C1-95AF-58C8F6A17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B3B17D83-4D11-4D61-B0EC-57DFAAC1E2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9524" y="1374448"/>
            <a:ext cx="7024951" cy="41091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03FE70-8F52-4E34-857F-DC6354AC488A}"/>
              </a:ext>
            </a:extLst>
          </p:cNvPr>
          <p:cNvSpPr txBox="1"/>
          <p:nvPr/>
        </p:nvSpPr>
        <p:spPr>
          <a:xfrm>
            <a:off x="974221" y="5572480"/>
            <a:ext cx="6528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What if: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List the </a:t>
            </a:r>
            <a:r>
              <a:rPr lang="en-MY" dirty="0" err="1"/>
              <a:t>department_id</a:t>
            </a:r>
            <a:r>
              <a:rPr lang="en-MY" dirty="0"/>
              <a:t> and number of staffs in each department.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4507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2376B-89DC-41FF-B429-251A8DEC2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Groups of Data – </a:t>
            </a:r>
            <a:r>
              <a:rPr lang="en-US" dirty="0">
                <a:solidFill>
                  <a:srgbClr val="0070C0"/>
                </a:solidFill>
              </a:rPr>
              <a:t>GROUP BY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07D9F-9A80-4464-B5FB-C8D0BFE24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Issue: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F0F3D-CC41-4BE6-9ECB-C561F71A5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BFC8C7F-E1F8-4B77-8941-D42A93D81223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719237-37A5-4175-9AC2-83D4CD4C5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435D7E7F-A698-463E-B4CC-0967C353E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4934337"/>
            <a:ext cx="788669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MY" altLang="en-US" sz="2000" b="1" dirty="0">
                <a:cs typeface="Calibri" panose="020F0502020204030204" pitchFamily="34" charset="0"/>
              </a:rPr>
              <a:t>SOLUTION:</a:t>
            </a:r>
            <a:endParaRPr lang="en-US" altLang="en-US" sz="2000" b="1" dirty="0">
              <a:cs typeface="Calibri" panose="020F0502020204030204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en-US" sz="2000" dirty="0">
                <a:cs typeface="Calibri" panose="020F0502020204030204" pitchFamily="34" charset="0"/>
              </a:rPr>
              <a:t>A </a:t>
            </a:r>
            <a:r>
              <a:rPr lang="en-US" altLang="en-US" sz="2000" b="1" dirty="0">
                <a:solidFill>
                  <a:srgbClr val="0000CC"/>
                </a:solidFill>
                <a:cs typeface="Calibri" panose="020F0502020204030204" pitchFamily="34" charset="0"/>
              </a:rPr>
              <a:t>GROUP</a:t>
            </a:r>
            <a:r>
              <a:rPr lang="en-US" altLang="en-US" sz="2000" b="1" dirty="0"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00CC"/>
                </a:solidFill>
                <a:cs typeface="Calibri" panose="020F0502020204030204" pitchFamily="34" charset="0"/>
              </a:rPr>
              <a:t>BY</a:t>
            </a:r>
            <a:r>
              <a:rPr lang="en-US" altLang="en-US" sz="2000" b="1" dirty="0"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clause must be added to count the last names for each department_id</a:t>
            </a:r>
          </a:p>
        </p:txBody>
      </p:sp>
      <p:grpSp>
        <p:nvGrpSpPr>
          <p:cNvPr id="9" name="Group 10">
            <a:extLst>
              <a:ext uri="{FF2B5EF4-FFF2-40B4-BE49-F238E27FC236}">
                <a16:creationId xmlns:a16="http://schemas.microsoft.com/office/drawing/2014/main" id="{32CA9740-FBBF-4C5C-94BE-1671D69702A0}"/>
              </a:ext>
            </a:extLst>
          </p:cNvPr>
          <p:cNvGrpSpPr>
            <a:grpSpLocks/>
          </p:cNvGrpSpPr>
          <p:nvPr/>
        </p:nvGrpSpPr>
        <p:grpSpPr bwMode="auto">
          <a:xfrm>
            <a:off x="1781517" y="2825065"/>
            <a:ext cx="6089160" cy="1769607"/>
            <a:chOff x="3511578" y="1888215"/>
            <a:chExt cx="5626978" cy="1450390"/>
          </a:xfrm>
        </p:grpSpPr>
        <p:grpSp>
          <p:nvGrpSpPr>
            <p:cNvPr id="10" name="Group 8">
              <a:extLst>
                <a:ext uri="{FF2B5EF4-FFF2-40B4-BE49-F238E27FC236}">
                  <a16:creationId xmlns:a16="http://schemas.microsoft.com/office/drawing/2014/main" id="{76077D89-DBEC-4378-984E-3BBD61088C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11578" y="1888215"/>
              <a:ext cx="5626978" cy="1450390"/>
              <a:chOff x="3511578" y="1888215"/>
              <a:chExt cx="5626978" cy="1450390"/>
            </a:xfrm>
          </p:grpSpPr>
          <p:pic>
            <p:nvPicPr>
              <p:cNvPr id="12" name="Picture 6">
                <a:extLst>
                  <a:ext uri="{FF2B5EF4-FFF2-40B4-BE49-F238E27FC236}">
                    <a16:creationId xmlns:a16="http://schemas.microsoft.com/office/drawing/2014/main" id="{E35D167F-AF34-4CCA-97C8-E2F44BCA56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11578" y="1888215"/>
                <a:ext cx="5626978" cy="14503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5FA460E-6976-4B87-BC58-84F7E2B12096}"/>
                  </a:ext>
                </a:extLst>
              </p:cNvPr>
              <p:cNvSpPr/>
              <p:nvPr/>
            </p:nvSpPr>
            <p:spPr>
              <a:xfrm>
                <a:off x="4643322" y="3068543"/>
                <a:ext cx="3744441" cy="24305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endParaRPr lang="en-US" altLang="en-US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6CDFF97-6917-43DE-B5DF-219EA5CE5483}"/>
                </a:ext>
              </a:extLst>
            </p:cNvPr>
            <p:cNvSpPr/>
            <p:nvPr/>
          </p:nvSpPr>
          <p:spPr>
            <a:xfrm>
              <a:off x="4284593" y="2420395"/>
              <a:ext cx="1439682" cy="21604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5D5F235-9F69-4E25-AEF4-7C219404C1A2}"/>
              </a:ext>
            </a:extLst>
          </p:cNvPr>
          <p:cNvSpPr txBox="1"/>
          <p:nvPr/>
        </p:nvSpPr>
        <p:spPr>
          <a:xfrm>
            <a:off x="1098153" y="2139821"/>
            <a:ext cx="7455887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MY" b="1" dirty="0">
                <a:solidFill>
                  <a:srgbClr val="0000CC"/>
                </a:solidFill>
                <a:latin typeface="Cascadia Code" panose="020B0509020204030204" pitchFamily="49" charset="0"/>
              </a:rPr>
              <a:t>SELECT</a:t>
            </a:r>
            <a:r>
              <a:rPr lang="en-MY" dirty="0">
                <a:latin typeface="Cascadia Code" panose="020B0509020204030204" pitchFamily="49" charset="0"/>
              </a:rPr>
              <a:t> </a:t>
            </a:r>
            <a:r>
              <a:rPr lang="en-MY" dirty="0" err="1">
                <a:solidFill>
                  <a:srgbClr val="C00000"/>
                </a:solidFill>
                <a:latin typeface="Cascadia Code" panose="020B0509020204030204" pitchFamily="49" charset="0"/>
              </a:rPr>
              <a:t>department_id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</a:rPr>
              <a:t>, </a:t>
            </a:r>
            <a:r>
              <a:rPr lang="en-MY" b="1" dirty="0">
                <a:solidFill>
                  <a:srgbClr val="0000CC"/>
                </a:solidFill>
                <a:latin typeface="Cascadia Code" panose="020B0509020204030204" pitchFamily="49" charset="0"/>
              </a:rPr>
              <a:t>COUNT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</a:rPr>
              <a:t>(</a:t>
            </a:r>
            <a:r>
              <a:rPr lang="en-MY" dirty="0" err="1">
                <a:solidFill>
                  <a:srgbClr val="C00000"/>
                </a:solidFill>
                <a:latin typeface="Cascadia Code" panose="020B0509020204030204" pitchFamily="49" charset="0"/>
              </a:rPr>
              <a:t>last_name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</a:rPr>
              <a:t>) </a:t>
            </a:r>
            <a:r>
              <a:rPr lang="en-MY" b="1" dirty="0">
                <a:solidFill>
                  <a:srgbClr val="0000CC"/>
                </a:solidFill>
                <a:latin typeface="Cascadia Code" panose="020B0509020204030204" pitchFamily="49" charset="0"/>
              </a:rPr>
              <a:t>FROM</a:t>
            </a:r>
            <a:r>
              <a:rPr lang="en-MY" dirty="0">
                <a:latin typeface="Cascadia Code" panose="020B0509020204030204" pitchFamily="49" charset="0"/>
              </a:rPr>
              <a:t> 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</a:rPr>
              <a:t>employees;</a:t>
            </a:r>
            <a:endParaRPr lang="en-US" dirty="0">
              <a:solidFill>
                <a:srgbClr val="C00000"/>
              </a:solidFill>
              <a:latin typeface="Cascadia Code" panose="020B05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736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2376B-89DC-41FF-B429-251A8DEC2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Groups of Data – </a:t>
            </a:r>
            <a:r>
              <a:rPr lang="en-US" dirty="0">
                <a:solidFill>
                  <a:srgbClr val="0070C0"/>
                </a:solidFill>
              </a:rPr>
              <a:t>GROUP BY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F0F3D-CC41-4BE6-9ECB-C561F71A5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0159C2D-6ECD-4466-9FE3-9EBDDEC93433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719237-37A5-4175-9AC2-83D4CD4C5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17F6CD-DEA2-40B9-AB2E-E8323FF14B95}"/>
              </a:ext>
            </a:extLst>
          </p:cNvPr>
          <p:cNvSpPr/>
          <p:nvPr/>
        </p:nvSpPr>
        <p:spPr>
          <a:xfrm>
            <a:off x="810338" y="1509713"/>
            <a:ext cx="7523323" cy="92333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department_id,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COUNT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ascadia Code" panose="020B0509020204030204" pitchFamily="49" charset="0"/>
              </a:rPr>
              <a:t>last_name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) 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GROUP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BY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department_id;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0239708-3F65-47BA-8D32-1E699C731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05" y="2612389"/>
            <a:ext cx="4445000" cy="384950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sz="2400" dirty="0"/>
              <a:t>Whenever you use a mixture of </a:t>
            </a:r>
          </a:p>
          <a:p>
            <a:pPr lvl="1" eaLnBrk="1" hangingPunct="1">
              <a:defRPr/>
            </a:pPr>
            <a:r>
              <a:rPr lang="en-US" altLang="en-US" dirty="0"/>
              <a:t>individual items </a:t>
            </a:r>
            <a:r>
              <a:rPr lang="en-US" alt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(DEPARTMENT_ID) </a:t>
            </a:r>
            <a:r>
              <a:rPr lang="en-US" altLang="en-US" dirty="0"/>
              <a:t>and </a:t>
            </a:r>
          </a:p>
          <a:p>
            <a:pPr lvl="1" eaLnBrk="1" hangingPunct="1">
              <a:defRPr/>
            </a:pPr>
            <a:r>
              <a:rPr lang="en-US" altLang="en-US" dirty="0"/>
              <a:t>group functions </a:t>
            </a:r>
            <a:r>
              <a:rPr lang="en-US" alt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(COUNT) </a:t>
            </a:r>
          </a:p>
          <a:p>
            <a:pPr lvl="1" eaLnBrk="1" hangingPunct="1">
              <a:defRPr/>
            </a:pPr>
            <a:r>
              <a:rPr lang="en-US" altLang="en-US" dirty="0"/>
              <a:t>In the same </a:t>
            </a:r>
            <a:r>
              <a:rPr lang="en-US" alt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 dirty="0"/>
              <a:t> statement,</a:t>
            </a:r>
          </a:p>
          <a:p>
            <a:pPr lvl="1" eaLnBrk="1" hangingPunct="1">
              <a:defRPr/>
            </a:pPr>
            <a:r>
              <a:rPr lang="en-US" altLang="en-US" dirty="0"/>
              <a:t>You must include a </a:t>
            </a:r>
            <a:r>
              <a:rPr lang="en-US" alt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 BY </a:t>
            </a:r>
            <a:r>
              <a:rPr lang="en-US" altLang="en-US" dirty="0"/>
              <a:t>clause that specifies the individual item (in this case, </a:t>
            </a:r>
            <a:r>
              <a:rPr lang="en-US" alt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DEPARTMENT_ID</a:t>
            </a:r>
            <a:r>
              <a:rPr lang="en-US" altLang="en-US" dirty="0"/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5A83C5-2A59-4A35-B93D-0B57454FD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862" y="2782381"/>
            <a:ext cx="3423488" cy="171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545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B544-5D14-43FA-9D22-53D6D8C13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Groups of Data – </a:t>
            </a:r>
            <a:r>
              <a:rPr lang="en-US" dirty="0">
                <a:solidFill>
                  <a:srgbClr val="0070C0"/>
                </a:solidFill>
              </a:rPr>
              <a:t>GROUP BY</a:t>
            </a:r>
            <a:endParaRPr lang="en-MY" dirty="0">
              <a:solidFill>
                <a:srgbClr val="0070C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01E99-1A1D-4ADB-B755-9332E988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7C8AB6-D0B1-4C55-ABB0-7B033C960718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0FAAE-FD3A-4FE5-A396-E20FB5B55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10A8DE52-1547-4B27-A703-904D7B69D3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9524" y="1249423"/>
            <a:ext cx="7024951" cy="41091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DF7072-3FFB-4156-AC4D-052A0EB34EA9}"/>
              </a:ext>
            </a:extLst>
          </p:cNvPr>
          <p:cNvSpPr txBox="1"/>
          <p:nvPr/>
        </p:nvSpPr>
        <p:spPr>
          <a:xfrm>
            <a:off x="974222" y="5447455"/>
            <a:ext cx="7110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What if: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List the </a:t>
            </a:r>
            <a:r>
              <a:rPr lang="en-MY" dirty="0" err="1"/>
              <a:t>department_id</a:t>
            </a:r>
            <a:r>
              <a:rPr lang="en-MY" dirty="0"/>
              <a:t>, </a:t>
            </a:r>
            <a:r>
              <a:rPr lang="en-MY" dirty="0" err="1"/>
              <a:t>job_id</a:t>
            </a:r>
            <a:r>
              <a:rPr lang="en-MY" dirty="0"/>
              <a:t> and number of staffs based on the </a:t>
            </a:r>
            <a:r>
              <a:rPr lang="en-MY" dirty="0" err="1"/>
              <a:t>job_id</a:t>
            </a:r>
            <a:r>
              <a:rPr lang="en-MY" dirty="0"/>
              <a:t> in each department.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9851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B544-5D14-43FA-9D22-53D6D8C13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Groups of Data – </a:t>
            </a:r>
            <a:r>
              <a:rPr lang="en-US" dirty="0">
                <a:solidFill>
                  <a:srgbClr val="0070C0"/>
                </a:solidFill>
              </a:rPr>
              <a:t>GROUP BY</a:t>
            </a:r>
            <a:endParaRPr lang="en-MY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2DE07-0D78-4A21-97E5-3B6264030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Issue: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01E99-1A1D-4ADB-B755-9332E988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0552FA-E391-4DA0-A671-978A1006F188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0FAAE-FD3A-4FE5-A396-E20FB5B55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39AF1D-8161-4746-A282-152856267291}"/>
              </a:ext>
            </a:extLst>
          </p:cNvPr>
          <p:cNvSpPr txBox="1"/>
          <p:nvPr/>
        </p:nvSpPr>
        <p:spPr>
          <a:xfrm>
            <a:off x="1315339" y="2098435"/>
            <a:ext cx="6513322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MY" b="1" dirty="0">
                <a:solidFill>
                  <a:srgbClr val="0000CC"/>
                </a:solidFill>
                <a:latin typeface="Cascadia Code" panose="020B0509020204030204" pitchFamily="49" charset="0"/>
              </a:rPr>
              <a:t>SELECT</a:t>
            </a:r>
            <a:r>
              <a:rPr lang="en-MY" dirty="0">
                <a:latin typeface="Cascadia Code" panose="020B0509020204030204" pitchFamily="49" charset="0"/>
              </a:rPr>
              <a:t> </a:t>
            </a:r>
            <a:r>
              <a:rPr lang="en-MY" dirty="0" err="1">
                <a:solidFill>
                  <a:srgbClr val="C00000"/>
                </a:solidFill>
                <a:latin typeface="Cascadia Code" panose="020B0509020204030204" pitchFamily="49" charset="0"/>
              </a:rPr>
              <a:t>department_id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</a:rPr>
              <a:t>, </a:t>
            </a:r>
            <a:r>
              <a:rPr lang="en-MY" dirty="0" err="1">
                <a:solidFill>
                  <a:srgbClr val="C00000"/>
                </a:solidFill>
                <a:latin typeface="Cascadia Code" panose="020B0509020204030204" pitchFamily="49" charset="0"/>
              </a:rPr>
              <a:t>job_id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</a:rPr>
              <a:t>, </a:t>
            </a:r>
            <a:r>
              <a:rPr lang="en-MY" b="1" dirty="0">
                <a:solidFill>
                  <a:srgbClr val="0000CC"/>
                </a:solidFill>
                <a:latin typeface="Cascadia Code" panose="020B0509020204030204" pitchFamily="49" charset="0"/>
              </a:rPr>
              <a:t>COUNT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</a:rPr>
              <a:t>(</a:t>
            </a:r>
            <a:r>
              <a:rPr lang="en-MY" dirty="0" err="1">
                <a:solidFill>
                  <a:srgbClr val="C00000"/>
                </a:solidFill>
                <a:latin typeface="Cascadia Code" panose="020B0509020204030204" pitchFamily="49" charset="0"/>
              </a:rPr>
              <a:t>last_name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</a:rPr>
              <a:t>) </a:t>
            </a:r>
          </a:p>
          <a:p>
            <a:r>
              <a:rPr lang="en-MY" b="1" dirty="0">
                <a:solidFill>
                  <a:srgbClr val="0000CC"/>
                </a:solidFill>
                <a:latin typeface="Cascadia Code" panose="020B0509020204030204" pitchFamily="49" charset="0"/>
              </a:rPr>
              <a:t>FROM</a:t>
            </a:r>
            <a:r>
              <a:rPr lang="en-MY" dirty="0">
                <a:latin typeface="Cascadia Code" panose="020B0509020204030204" pitchFamily="49" charset="0"/>
              </a:rPr>
              <a:t> 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</a:rPr>
              <a:t>employees</a:t>
            </a:r>
          </a:p>
          <a:p>
            <a:r>
              <a:rPr lang="en-MY" b="1" dirty="0">
                <a:solidFill>
                  <a:srgbClr val="0000CC"/>
                </a:solidFill>
                <a:latin typeface="Cascadia Code" panose="020B0509020204030204" pitchFamily="49" charset="0"/>
              </a:rPr>
              <a:t>GROUP BY </a:t>
            </a:r>
            <a:r>
              <a:rPr lang="en-MY" dirty="0" err="1">
                <a:solidFill>
                  <a:srgbClr val="C00000"/>
                </a:solidFill>
                <a:latin typeface="Cascadia Code" panose="020B0509020204030204" pitchFamily="49" charset="0"/>
              </a:rPr>
              <a:t>department_id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</a:rPr>
              <a:t>;</a:t>
            </a:r>
            <a:endParaRPr lang="en-US" b="1" dirty="0">
              <a:solidFill>
                <a:srgbClr val="C00000"/>
              </a:solidFill>
              <a:latin typeface="Cascadia Code" panose="020B0509020204030204" pitchFamily="49" charset="0"/>
            </a:endParaRP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BA06D785-B952-4221-8F84-67B7011B4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5211762"/>
            <a:ext cx="78867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MY" altLang="en-US" sz="2000" b="1" dirty="0">
                <a:cs typeface="Calibri" panose="020F0502020204030204" pitchFamily="34" charset="0"/>
              </a:rPr>
              <a:t>SOLUTION:</a:t>
            </a:r>
            <a:endParaRPr lang="en-US" altLang="en-US" sz="2000" b="1" dirty="0">
              <a:cs typeface="Calibri" panose="020F0502020204030204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en-US" sz="2000" dirty="0">
                <a:cs typeface="Calibri" panose="020F0502020204030204" pitchFamily="34" charset="0"/>
              </a:rPr>
              <a:t>Either add </a:t>
            </a:r>
            <a:r>
              <a:rPr lang="en-US" altLang="en-US" sz="2000" dirty="0" err="1">
                <a:cs typeface="Calibri" panose="020F0502020204030204" pitchFamily="34" charset="0"/>
              </a:rPr>
              <a:t>job_id</a:t>
            </a:r>
            <a:r>
              <a:rPr lang="en-US" altLang="en-US" sz="2000" dirty="0">
                <a:cs typeface="Calibri" panose="020F0502020204030204" pitchFamily="34" charset="0"/>
              </a:rPr>
              <a:t> in the </a:t>
            </a:r>
            <a:r>
              <a:rPr lang="en-US" altLang="en-US" sz="2000" b="1" dirty="0">
                <a:solidFill>
                  <a:srgbClr val="0000CC"/>
                </a:solidFill>
                <a:cs typeface="Calibri" panose="020F0502020204030204" pitchFamily="34" charset="0"/>
              </a:rPr>
              <a:t>GROUP</a:t>
            </a:r>
            <a:r>
              <a:rPr lang="en-US" altLang="en-US" sz="2000" b="1" dirty="0"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00CC"/>
                </a:solidFill>
                <a:cs typeface="Calibri" panose="020F0502020204030204" pitchFamily="34" charset="0"/>
              </a:rPr>
              <a:t>BY</a:t>
            </a:r>
            <a:r>
              <a:rPr lang="en-US" altLang="en-US" sz="2000" b="1" dirty="0"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clause or remove the </a:t>
            </a:r>
            <a:r>
              <a:rPr lang="en-US" altLang="en-US" sz="2000" dirty="0" err="1">
                <a:cs typeface="Calibri" panose="020F0502020204030204" pitchFamily="34" charset="0"/>
              </a:rPr>
              <a:t>job_id</a:t>
            </a:r>
            <a:r>
              <a:rPr lang="en-US" altLang="en-US" sz="2000" dirty="0">
                <a:cs typeface="Calibri" panose="020F0502020204030204" pitchFamily="34" charset="0"/>
              </a:rPr>
              <a:t> column from the </a:t>
            </a:r>
            <a:r>
              <a:rPr lang="en-US" altLang="en-US" sz="2000" b="1" dirty="0">
                <a:solidFill>
                  <a:srgbClr val="0000CC"/>
                </a:solidFill>
                <a:cs typeface="Calibri" panose="020F0502020204030204" pitchFamily="34" charset="0"/>
              </a:rPr>
              <a:t>SELECT</a:t>
            </a:r>
            <a:r>
              <a:rPr lang="en-US" altLang="en-US" sz="2000" dirty="0">
                <a:cs typeface="Calibri" panose="020F0502020204030204" pitchFamily="34" charset="0"/>
              </a:rPr>
              <a:t> list</a:t>
            </a:r>
          </a:p>
        </p:txBody>
      </p:sp>
      <p:grpSp>
        <p:nvGrpSpPr>
          <p:cNvPr id="16" name="Group 14">
            <a:extLst>
              <a:ext uri="{FF2B5EF4-FFF2-40B4-BE49-F238E27FC236}">
                <a16:creationId xmlns:a16="http://schemas.microsoft.com/office/drawing/2014/main" id="{781FBABB-C63A-4692-B724-EA4FC50F5D08}"/>
              </a:ext>
            </a:extLst>
          </p:cNvPr>
          <p:cNvGrpSpPr>
            <a:grpSpLocks/>
          </p:cNvGrpSpPr>
          <p:nvPr/>
        </p:nvGrpSpPr>
        <p:grpSpPr bwMode="auto">
          <a:xfrm>
            <a:off x="1881981" y="3278416"/>
            <a:ext cx="5380038" cy="1652588"/>
            <a:chOff x="3562171" y="3863734"/>
            <a:chExt cx="5380429" cy="1653498"/>
          </a:xfrm>
        </p:grpSpPr>
        <p:pic>
          <p:nvPicPr>
            <p:cNvPr id="17" name="Picture 11">
              <a:extLst>
                <a:ext uri="{FF2B5EF4-FFF2-40B4-BE49-F238E27FC236}">
                  <a16:creationId xmlns:a16="http://schemas.microsoft.com/office/drawing/2014/main" id="{1407863C-57F3-42C8-95CB-B0DE363A68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2171" y="3863734"/>
              <a:ext cx="5380429" cy="1653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6137A44-02B4-43D0-B9E0-46362080025B}"/>
                </a:ext>
              </a:extLst>
            </p:cNvPr>
            <p:cNvSpPr/>
            <p:nvPr/>
          </p:nvSpPr>
          <p:spPr>
            <a:xfrm>
              <a:off x="4649688" y="5229736"/>
              <a:ext cx="2802141" cy="28749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>
                <a:solidFill>
                  <a:srgbClr val="FFFFFF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FBC9F0E-6FEF-4E7B-BBAB-CC5A32F667EA}"/>
                </a:ext>
              </a:extLst>
            </p:cNvPr>
            <p:cNvSpPr/>
            <p:nvPr/>
          </p:nvSpPr>
          <p:spPr>
            <a:xfrm>
              <a:off x="5802297" y="4581679"/>
              <a:ext cx="785869" cy="21601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96032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B544-5D14-43FA-9D22-53D6D8C13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Groups of Data – </a:t>
            </a:r>
            <a:r>
              <a:rPr lang="en-US" dirty="0">
                <a:solidFill>
                  <a:srgbClr val="0070C0"/>
                </a:solidFill>
              </a:rPr>
              <a:t>GROUP BY</a:t>
            </a:r>
            <a:endParaRPr lang="en-MY" dirty="0">
              <a:solidFill>
                <a:srgbClr val="0070C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01E99-1A1D-4ADB-B755-9332E988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FDC3BA-8F95-4543-891D-BD99128F6FA3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0FAAE-FD3A-4FE5-A396-E20FB5B55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077301-4535-4D6A-8E49-BA1E4C723956}"/>
              </a:ext>
            </a:extLst>
          </p:cNvPr>
          <p:cNvSpPr/>
          <p:nvPr/>
        </p:nvSpPr>
        <p:spPr>
          <a:xfrm>
            <a:off x="810338" y="1509713"/>
            <a:ext cx="7523323" cy="92333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department_id,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COUNT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ascadia Code" panose="020B0509020204030204" pitchFamily="49" charset="0"/>
              </a:rPr>
              <a:t>last_name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) 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GROUP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BY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department_id;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E7B48CD-813E-4141-A1C8-BDABAB40ECF0}"/>
              </a:ext>
            </a:extLst>
          </p:cNvPr>
          <p:cNvSpPr txBox="1">
            <a:spLocks/>
          </p:cNvSpPr>
          <p:nvPr/>
        </p:nvSpPr>
        <p:spPr bwMode="auto">
          <a:xfrm>
            <a:off x="319167" y="2484155"/>
            <a:ext cx="5163796" cy="3791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defRPr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Any column or expression in the </a:t>
            </a:r>
            <a:r>
              <a:rPr lang="en-US" altLang="en-US" sz="20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list that is not an aggregate function must be in the </a:t>
            </a:r>
            <a:r>
              <a:rPr lang="en-US" altLang="en-US" sz="20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GROUP BY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clause</a:t>
            </a:r>
          </a:p>
          <a:p>
            <a:pPr defTabSz="914400" eaLnBrk="1" hangingPunct="1">
              <a:defRPr/>
            </a:pPr>
            <a:r>
              <a:rPr lang="en-US" alt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job_id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is neither in the </a:t>
            </a:r>
            <a:r>
              <a:rPr lang="en-US" altLang="en-US" sz="20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GROUP BY</a:t>
            </a:r>
            <a:r>
              <a:rPr lang="en-US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clause nor is it being used by a group function, so there is a </a:t>
            </a: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“not a </a:t>
            </a:r>
            <a:r>
              <a:rPr lang="en-US" altLang="en-US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GROUP BY </a:t>
            </a: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expression”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error</a:t>
            </a:r>
          </a:p>
          <a:p>
            <a:pPr defTabSz="914400" eaLnBrk="1" hangingPunct="1">
              <a:defRPr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We can correct this error by adding </a:t>
            </a:r>
            <a:r>
              <a:rPr lang="en-US" alt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job_id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in the </a:t>
            </a:r>
            <a:r>
              <a:rPr lang="en-US" altLang="en-US" sz="20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GROUP BY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clause </a:t>
            </a:r>
          </a:p>
          <a:p>
            <a:pPr marL="0" indent="0" defTabSz="914400" eaLnBrk="1" hangingPunct="1"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EEB8EC6A-7633-4F9B-AFAD-1985ACB77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7164" y="2525411"/>
            <a:ext cx="3231841" cy="3208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EF58D1-4F5F-4170-9E7E-77D752FFA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274" y="5006720"/>
            <a:ext cx="2934689" cy="145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2181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B544-5D14-43FA-9D22-53D6D8C13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Groups of Data – </a:t>
            </a:r>
            <a:r>
              <a:rPr lang="en-US" dirty="0">
                <a:solidFill>
                  <a:srgbClr val="0070C0"/>
                </a:solidFill>
              </a:rPr>
              <a:t>GROUP BY</a:t>
            </a:r>
            <a:endParaRPr lang="en-MY" dirty="0">
              <a:solidFill>
                <a:srgbClr val="0070C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01E99-1A1D-4ADB-B755-9332E988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24CD06-9312-496B-A0A9-8D32C68B72F7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0FAAE-FD3A-4FE5-A396-E20FB5B55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6F61C7A-24C7-4A29-B0C0-25881C50A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8" y="4597400"/>
            <a:ext cx="8788400" cy="1789113"/>
          </a:xfrm>
        </p:spPr>
        <p:txBody>
          <a:bodyPr/>
          <a:lstStyle/>
          <a:p>
            <a:pPr eaLnBrk="1" hangingPunct="1"/>
            <a:r>
              <a:rPr lang="en-US" altLang="en-US" sz="2000" dirty="0">
                <a:solidFill>
                  <a:srgbClr val="0070C0"/>
                </a:solidFill>
              </a:rPr>
              <a:t>List the job ID and total monthly salary for each job that has a payroll exceeding $13,000</a:t>
            </a:r>
          </a:p>
          <a:p>
            <a:pPr eaLnBrk="1" hangingPunct="1"/>
            <a:r>
              <a:rPr lang="en-US" altLang="en-US" sz="2000" dirty="0">
                <a:solidFill>
                  <a:srgbClr val="0070C0"/>
                </a:solidFill>
              </a:rPr>
              <a:t>It excludes sales representatives </a:t>
            </a:r>
          </a:p>
          <a:p>
            <a:pPr eaLnBrk="1" hangingPunct="1"/>
            <a:r>
              <a:rPr lang="en-US" altLang="en-US" sz="2000" dirty="0">
                <a:solidFill>
                  <a:srgbClr val="0070C0"/>
                </a:solidFill>
              </a:rPr>
              <a:t>It sorts the list by the total monthly salary</a:t>
            </a:r>
          </a:p>
        </p:txBody>
      </p:sp>
      <p:grpSp>
        <p:nvGrpSpPr>
          <p:cNvPr id="10" name="Group 5">
            <a:extLst>
              <a:ext uri="{FF2B5EF4-FFF2-40B4-BE49-F238E27FC236}">
                <a16:creationId xmlns:a16="http://schemas.microsoft.com/office/drawing/2014/main" id="{F6EDD1A4-E3FF-48A7-AC70-E04FB7FBAA5B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557338"/>
            <a:ext cx="4384675" cy="2871787"/>
            <a:chOff x="107504" y="1556791"/>
            <a:chExt cx="4385082" cy="2872507"/>
          </a:xfrm>
        </p:grpSpPr>
        <p:pic>
          <p:nvPicPr>
            <p:cNvPr id="11" name="Picture 1">
              <a:extLst>
                <a:ext uri="{FF2B5EF4-FFF2-40B4-BE49-F238E27FC236}">
                  <a16:creationId xmlns:a16="http://schemas.microsoft.com/office/drawing/2014/main" id="{31CD6F91-13AB-4852-A2C2-303FAB668A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504" y="1556791"/>
              <a:ext cx="4385082" cy="28725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14DF203-20EF-4040-A63F-EF86CB21E0E4}"/>
                </a:ext>
              </a:extLst>
            </p:cNvPr>
            <p:cNvSpPr/>
            <p:nvPr/>
          </p:nvSpPr>
          <p:spPr>
            <a:xfrm>
              <a:off x="1618944" y="2781060"/>
              <a:ext cx="1297108" cy="21119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3" name="Group 4">
            <a:extLst>
              <a:ext uri="{FF2B5EF4-FFF2-40B4-BE49-F238E27FC236}">
                <a16:creationId xmlns:a16="http://schemas.microsoft.com/office/drawing/2014/main" id="{4DC05844-01A2-4818-9835-B786C334FB7B}"/>
              </a:ext>
            </a:extLst>
          </p:cNvPr>
          <p:cNvGrpSpPr>
            <a:grpSpLocks/>
          </p:cNvGrpSpPr>
          <p:nvPr/>
        </p:nvGrpSpPr>
        <p:grpSpPr bwMode="auto">
          <a:xfrm>
            <a:off x="4613275" y="1573213"/>
            <a:ext cx="4402138" cy="2855912"/>
            <a:chOff x="4613682" y="1572689"/>
            <a:chExt cx="4402213" cy="2856609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4E42A76E-0524-4007-B9CD-9E28A7CCB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3682" y="1572689"/>
              <a:ext cx="4402213" cy="2856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800128B-9AF3-46B7-81B7-57AC884063B4}"/>
                </a:ext>
              </a:extLst>
            </p:cNvPr>
            <p:cNvSpPr/>
            <p:nvPr/>
          </p:nvSpPr>
          <p:spPr>
            <a:xfrm>
              <a:off x="6166283" y="2781071"/>
              <a:ext cx="782651" cy="21119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39752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87A24-9645-4EFE-A17E-7659CD9F8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Illegal Queries Using Group Functions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39F68-9A60-4C60-941B-B72F7EDB4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C54D4A1-43F8-434B-B19E-6ED02F3EFB66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3C58B6-38A1-401F-8931-4ACE71CB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ECA996A-E8C4-4591-94B9-6F1A4864A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50" y="1844675"/>
            <a:ext cx="3048000" cy="4465638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You cannot use the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altLang="en-US" sz="2400" dirty="0"/>
              <a:t> clause to restrict groups.</a:t>
            </a:r>
          </a:p>
          <a:p>
            <a:pPr eaLnBrk="1" hangingPunct="1"/>
            <a:r>
              <a:rPr lang="en-US" altLang="en-US" sz="2400" dirty="0"/>
              <a:t>You cannot use group functions in the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altLang="en-US" sz="2400" dirty="0"/>
              <a:t> clause.</a:t>
            </a:r>
          </a:p>
          <a:p>
            <a:pPr eaLnBrk="1" hangingPunct="1"/>
            <a:r>
              <a:rPr lang="en-US" altLang="en-US" sz="2400" b="1" dirty="0">
                <a:solidFill>
                  <a:srgbClr val="0000CC"/>
                </a:solidFill>
              </a:rPr>
              <a:t>Use </a:t>
            </a:r>
            <a:r>
              <a:rPr lang="en-US" altLang="en-US" sz="24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HAVING </a:t>
            </a:r>
            <a:r>
              <a:rPr lang="en-US" altLang="en-US" sz="2400" b="1" dirty="0">
                <a:solidFill>
                  <a:srgbClr val="0000CC"/>
                </a:solidFill>
              </a:rPr>
              <a:t>clause to restrict groups</a:t>
            </a:r>
            <a:r>
              <a:rPr lang="en-US" altLang="en-US" sz="2400" dirty="0">
                <a:solidFill>
                  <a:srgbClr val="0000CC"/>
                </a:solidFill>
              </a:rPr>
              <a:t>.</a:t>
            </a:r>
            <a:endParaRPr lang="en-US" altLang="en-US" sz="2400" b="1" dirty="0">
              <a:solidFill>
                <a:srgbClr val="0000CC"/>
              </a:solidFill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400" b="1" dirty="0"/>
              <a:t>	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eaLnBrk="1" hangingPunct="1"/>
            <a:endParaRPr lang="en-US" altLang="en-US" sz="2400" dirty="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C1AD57E-73F2-4092-9066-D92E1D0443FD}"/>
              </a:ext>
            </a:extLst>
          </p:cNvPr>
          <p:cNvGrpSpPr>
            <a:grpSpLocks/>
          </p:cNvGrpSpPr>
          <p:nvPr/>
        </p:nvGrpSpPr>
        <p:grpSpPr bwMode="auto">
          <a:xfrm>
            <a:off x="3244850" y="2073275"/>
            <a:ext cx="5899150" cy="3587750"/>
            <a:chOff x="3244651" y="2073276"/>
            <a:chExt cx="5899349" cy="358774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F38834B-64DD-4193-B059-F3D04D2F0E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8600" y="4953000"/>
              <a:ext cx="4495800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solidFill>
                    <a:srgbClr val="FF0000"/>
                  </a:solidFill>
                  <a:latin typeface="Constantia" panose="02030602050306030303" pitchFamily="18" charset="0"/>
                  <a:ea typeface="ＭＳ Ｐゴシック" panose="020B0600070205080204" pitchFamily="34" charset="-128"/>
                </a:rPr>
                <a:t>Cannot use the WHERE clause to restrict groups</a:t>
              </a:r>
              <a:endParaRPr lang="en-US" altLang="en-US" sz="2000">
                <a:latin typeface="Constantia" panose="02030602050306030303" pitchFamily="18" charset="0"/>
                <a:ea typeface="ＭＳ Ｐゴシック" panose="020B0600070205080204" pitchFamily="34" charset="-128"/>
              </a:endParaRPr>
            </a:p>
          </p:txBody>
        </p:sp>
        <p:pic>
          <p:nvPicPr>
            <p:cNvPr id="10" name="Picture 1">
              <a:extLst>
                <a:ext uri="{FF2B5EF4-FFF2-40B4-BE49-F238E27FC236}">
                  <a16:creationId xmlns:a16="http://schemas.microsoft.com/office/drawing/2014/main" id="{FAE57AEB-7094-478F-92CC-33B2C318D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4651" y="2073276"/>
              <a:ext cx="5899349" cy="22240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E86B8AB-493C-40B0-9EE0-129683CE88A8}"/>
                </a:ext>
              </a:extLst>
            </p:cNvPr>
            <p:cNvCxnSpPr/>
            <p:nvPr/>
          </p:nvCxnSpPr>
          <p:spPr>
            <a:xfrm flipH="1" flipV="1">
              <a:off x="4571846" y="2924176"/>
              <a:ext cx="2232100" cy="202882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F95E775-2D18-4493-BC94-73AAC7ED558E}"/>
                </a:ext>
              </a:extLst>
            </p:cNvPr>
            <p:cNvSpPr/>
            <p:nvPr/>
          </p:nvSpPr>
          <p:spPr>
            <a:xfrm>
              <a:off x="3852685" y="2636839"/>
              <a:ext cx="3383076" cy="28733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85959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D5B41-D69B-4C34-9C5A-8A8C27D4F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Restricting Group Results with the </a:t>
            </a:r>
            <a:r>
              <a:rPr lang="en-US" dirty="0">
                <a:solidFill>
                  <a:srgbClr val="0070C0"/>
                </a:solidFill>
              </a:rPr>
              <a:t>HAVING</a:t>
            </a:r>
            <a:r>
              <a:rPr lang="en-US" dirty="0"/>
              <a:t> Clause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B38C6-B68A-4643-A8A9-01B6DA48A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use the </a:t>
            </a:r>
            <a:r>
              <a:rPr lang="en-US" b="1" dirty="0">
                <a:solidFill>
                  <a:srgbClr val="0070C0"/>
                </a:solidFill>
              </a:rPr>
              <a:t>HAVING</a:t>
            </a:r>
            <a:r>
              <a:rPr lang="en-US" dirty="0"/>
              <a:t> clause, the Oracle server restricts groups as follows:</a:t>
            </a:r>
          </a:p>
          <a:p>
            <a:pPr lvl="1"/>
            <a:r>
              <a:rPr lang="en-US" dirty="0"/>
              <a:t>Rows are grouped.</a:t>
            </a:r>
          </a:p>
          <a:p>
            <a:pPr lvl="1"/>
            <a:r>
              <a:rPr lang="en-US" dirty="0"/>
              <a:t>The group function is applied.</a:t>
            </a:r>
          </a:p>
          <a:p>
            <a:pPr lvl="1"/>
            <a:r>
              <a:rPr lang="en-US" dirty="0"/>
              <a:t>Groups matching the </a:t>
            </a:r>
            <a:r>
              <a:rPr lang="en-US" b="1" dirty="0">
                <a:solidFill>
                  <a:srgbClr val="0070C0"/>
                </a:solidFill>
              </a:rPr>
              <a:t>HAVING</a:t>
            </a:r>
            <a:r>
              <a:rPr lang="en-US" dirty="0"/>
              <a:t> clause are displayed.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D3100-4E60-4A37-AF80-9CFE5C156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593155-6ADF-4090-8342-B8FAA3ED09D0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610BEC-3569-4EF4-B1CB-970AB7679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44465B-219E-4ED8-A236-6E31B199EE6C}"/>
              </a:ext>
            </a:extLst>
          </p:cNvPr>
          <p:cNvSpPr/>
          <p:nvPr/>
        </p:nvSpPr>
        <p:spPr>
          <a:xfrm>
            <a:off x="904679" y="3703430"/>
            <a:ext cx="7523323" cy="17543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column, group_function(expr…)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table</a:t>
            </a:r>
          </a:p>
          <a:p>
            <a:pPr marL="0" lvl="1"/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[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condition]</a:t>
            </a:r>
          </a:p>
          <a:p>
            <a:pPr marL="0" lvl="1"/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[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GROUP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BY group_by_expression]</a:t>
            </a:r>
          </a:p>
          <a:p>
            <a:pPr marL="0" lvl="1"/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[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HAVING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scadia Code" panose="020B0509020204030204" pitchFamily="49" charset="0"/>
              </a:rPr>
              <a:t>group_condition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]</a:t>
            </a:r>
          </a:p>
          <a:p>
            <a:pPr marL="0" lvl="1"/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[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ORDER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BY column];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821067-B21D-44AE-9FC3-6CC2C7946990}"/>
              </a:ext>
            </a:extLst>
          </p:cNvPr>
          <p:cNvSpPr/>
          <p:nvPr/>
        </p:nvSpPr>
        <p:spPr>
          <a:xfrm>
            <a:off x="6786527" y="5594281"/>
            <a:ext cx="1641475" cy="330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chemeClr val="tx1"/>
                </a:solidFill>
              </a:rPr>
              <a:t>[ ]</a:t>
            </a:r>
            <a:r>
              <a:rPr lang="en-MY" b="1" dirty="0"/>
              <a:t> = </a:t>
            </a:r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OPTIONAL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179720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A756E-715B-41D5-B8E6-CB2C865A4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Restricting Group Results with the </a:t>
            </a:r>
            <a:r>
              <a:rPr lang="en-US" sz="2400" dirty="0">
                <a:solidFill>
                  <a:srgbClr val="0070C0"/>
                </a:solidFill>
              </a:rPr>
              <a:t>HAVING</a:t>
            </a:r>
            <a:r>
              <a:rPr lang="en-US" sz="2400" dirty="0"/>
              <a:t> Clause</a:t>
            </a:r>
            <a:endParaRPr lang="en-MY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F1E62-06C8-4B9F-95A9-C3714F40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EC7896-415E-414D-892A-903901CCD733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CE37A-318E-4114-BF37-51B1FAB54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F64959-B958-4E6F-A0DC-97B96C0D4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299" y="1471700"/>
            <a:ext cx="2808288" cy="4389437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List the average salary for every department which has an average salary of $8000 </a:t>
            </a: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606546FF-6A6C-424E-9C9C-98A83AED4B39}"/>
              </a:ext>
            </a:extLst>
          </p:cNvPr>
          <p:cNvGrpSpPr>
            <a:grpSpLocks/>
          </p:cNvGrpSpPr>
          <p:nvPr/>
        </p:nvGrpSpPr>
        <p:grpSpPr bwMode="auto">
          <a:xfrm>
            <a:off x="3046587" y="1471700"/>
            <a:ext cx="5905500" cy="3622675"/>
            <a:chOff x="3059832" y="1935163"/>
            <a:chExt cx="5904656" cy="3622025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66B9F35D-93E9-44E8-8C5F-0FF7B92BB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59832" y="1935163"/>
              <a:ext cx="5904656" cy="362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2D063C0-5EFF-4693-A613-FF1F65731D7F}"/>
                </a:ext>
              </a:extLst>
            </p:cNvPr>
            <p:cNvSpPr/>
            <p:nvPr/>
          </p:nvSpPr>
          <p:spPr>
            <a:xfrm>
              <a:off x="3780454" y="2997009"/>
              <a:ext cx="1007918" cy="28728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61424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A756E-715B-41D5-B8E6-CB2C865A4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Restricting Group Results with the </a:t>
            </a:r>
            <a:r>
              <a:rPr lang="en-US" sz="2400" dirty="0">
                <a:solidFill>
                  <a:srgbClr val="0070C0"/>
                </a:solidFill>
              </a:rPr>
              <a:t>HAVING</a:t>
            </a:r>
            <a:r>
              <a:rPr lang="en-US" sz="2400" dirty="0"/>
              <a:t> Clause</a:t>
            </a:r>
            <a:endParaRPr lang="en-MY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F1E62-06C8-4B9F-95A9-C3714F40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8CB9B4-7EF3-44DE-86C4-B37C495C2E29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CE37A-318E-4114-BF37-51B1FAB54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A5FE063-0C07-4713-A58E-4CEAA2E98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299" y="1471700"/>
            <a:ext cx="8713788" cy="4389437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List the average salary for every department which has an average salary of $8000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FA193B-A45B-4352-8932-C731984F9002}"/>
              </a:ext>
            </a:extLst>
          </p:cNvPr>
          <p:cNvSpPr txBox="1"/>
          <p:nvPr/>
        </p:nvSpPr>
        <p:spPr>
          <a:xfrm>
            <a:off x="233783" y="2548790"/>
            <a:ext cx="4266359" cy="830997"/>
          </a:xfrm>
          <a:prstGeom prst="rect">
            <a:avLst/>
          </a:prstGeom>
          <a:solidFill>
            <a:srgbClr val="404040"/>
          </a:solidFill>
        </p:spPr>
        <p:txBody>
          <a:bodyPr wrap="square" rtlCol="0">
            <a:spAutoFit/>
          </a:bodyPr>
          <a:lstStyle/>
          <a:p>
            <a:r>
              <a:rPr lang="en-MY" sz="1600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MY" sz="1600" dirty="0">
                <a:solidFill>
                  <a:schemeClr val="bg1"/>
                </a:solidFill>
                <a:latin typeface="Cascadia Code" panose="020B0509020204030204" pitchFamily="49" charset="0"/>
              </a:rPr>
              <a:t> department_id, </a:t>
            </a:r>
            <a:r>
              <a:rPr lang="en-MY" sz="1600" b="1" dirty="0">
                <a:solidFill>
                  <a:srgbClr val="92D050"/>
                </a:solidFill>
                <a:latin typeface="Cascadia Code" panose="020B0509020204030204" pitchFamily="49" charset="0"/>
              </a:rPr>
              <a:t>AVG</a:t>
            </a:r>
            <a:r>
              <a:rPr lang="en-MY" sz="1600" dirty="0">
                <a:solidFill>
                  <a:schemeClr val="bg1"/>
                </a:solidFill>
                <a:latin typeface="Cascadia Code" panose="020B0509020204030204" pitchFamily="49" charset="0"/>
              </a:rPr>
              <a:t>(salary) </a:t>
            </a:r>
          </a:p>
          <a:p>
            <a:r>
              <a:rPr lang="en-MY" sz="1600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MY" sz="1600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r>
              <a:rPr lang="en-MY" sz="1600" b="1" dirty="0">
                <a:solidFill>
                  <a:srgbClr val="E2A22F"/>
                </a:solidFill>
                <a:latin typeface="Cascadia Code" panose="020B0509020204030204" pitchFamily="49" charset="0"/>
              </a:rPr>
              <a:t>GROUP</a:t>
            </a:r>
            <a:r>
              <a:rPr lang="en-MY" sz="1600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MY" sz="1600" b="1" dirty="0">
                <a:solidFill>
                  <a:srgbClr val="E2A22F"/>
                </a:solidFill>
                <a:latin typeface="Cascadia Code" panose="020B0509020204030204" pitchFamily="49" charset="0"/>
              </a:rPr>
              <a:t>BY</a:t>
            </a:r>
            <a:r>
              <a:rPr lang="en-MY" sz="1600" dirty="0">
                <a:solidFill>
                  <a:schemeClr val="bg1"/>
                </a:solidFill>
                <a:latin typeface="Cascadia Code" panose="020B0509020204030204" pitchFamily="49" charset="0"/>
              </a:rPr>
              <a:t> department_id;</a:t>
            </a:r>
            <a:endParaRPr lang="en-US" sz="1600" dirty="0">
              <a:solidFill>
                <a:schemeClr val="bg1"/>
              </a:solidFill>
              <a:latin typeface="Cascadia Code" panose="020B0509020204030204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BDB1773-8A84-4632-92FA-EA4DF97C4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86" y="3635288"/>
            <a:ext cx="2934946" cy="27210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C447F2-862F-46A1-82F7-DEA3D4D29A4C}"/>
              </a:ext>
            </a:extLst>
          </p:cNvPr>
          <p:cNvSpPr txBox="1"/>
          <p:nvPr/>
        </p:nvSpPr>
        <p:spPr>
          <a:xfrm>
            <a:off x="4669543" y="2288845"/>
            <a:ext cx="4272323" cy="1107996"/>
          </a:xfrm>
          <a:prstGeom prst="rect">
            <a:avLst/>
          </a:prstGeom>
          <a:solidFill>
            <a:srgbClr val="404040"/>
          </a:solidFill>
        </p:spPr>
        <p:txBody>
          <a:bodyPr wrap="none" rtlCol="0">
            <a:spAutoFit/>
          </a:bodyPr>
          <a:lstStyle/>
          <a:p>
            <a:r>
              <a:rPr lang="en-MY" sz="1600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MY" sz="1600" dirty="0">
                <a:solidFill>
                  <a:schemeClr val="bg1"/>
                </a:solidFill>
                <a:latin typeface="Cascadia Code" panose="020B0509020204030204" pitchFamily="49" charset="0"/>
              </a:rPr>
              <a:t> department_id, </a:t>
            </a:r>
            <a:r>
              <a:rPr lang="en-MY" sz="1600" b="1" dirty="0">
                <a:solidFill>
                  <a:srgbClr val="92D050"/>
                </a:solidFill>
                <a:latin typeface="Cascadia Code" panose="020B0509020204030204" pitchFamily="49" charset="0"/>
              </a:rPr>
              <a:t>AVG</a:t>
            </a:r>
            <a:r>
              <a:rPr lang="en-MY" sz="1600" dirty="0">
                <a:solidFill>
                  <a:schemeClr val="bg1"/>
                </a:solidFill>
                <a:latin typeface="Cascadia Code" panose="020B0509020204030204" pitchFamily="49" charset="0"/>
              </a:rPr>
              <a:t>(salary) </a:t>
            </a:r>
          </a:p>
          <a:p>
            <a:r>
              <a:rPr lang="en-MY" sz="1600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MY" sz="1600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r>
              <a:rPr lang="en-MY" sz="1600" b="1" dirty="0">
                <a:solidFill>
                  <a:srgbClr val="E2A22F"/>
                </a:solidFill>
                <a:latin typeface="Cascadia Code" panose="020B0509020204030204" pitchFamily="49" charset="0"/>
              </a:rPr>
              <a:t>GROUP</a:t>
            </a:r>
            <a:r>
              <a:rPr lang="en-MY" sz="1600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MY" sz="1600" b="1" dirty="0">
                <a:solidFill>
                  <a:srgbClr val="E2A22F"/>
                </a:solidFill>
                <a:latin typeface="Cascadia Code" panose="020B0509020204030204" pitchFamily="49" charset="0"/>
              </a:rPr>
              <a:t>BY</a:t>
            </a:r>
            <a:r>
              <a:rPr lang="en-MY" sz="1600" dirty="0">
                <a:solidFill>
                  <a:schemeClr val="bg1"/>
                </a:solidFill>
                <a:latin typeface="Cascadia Code" panose="020B0509020204030204" pitchFamily="49" charset="0"/>
              </a:rPr>
              <a:t> department_id</a:t>
            </a:r>
          </a:p>
          <a:p>
            <a:r>
              <a:rPr lang="en-MY" sz="1600" b="1" dirty="0">
                <a:solidFill>
                  <a:srgbClr val="E2A22F"/>
                </a:solidFill>
                <a:latin typeface="Cascadia Code" panose="020B0509020204030204" pitchFamily="49" charset="0"/>
              </a:rPr>
              <a:t>HAVING</a:t>
            </a:r>
            <a:r>
              <a:rPr lang="en-MY" sz="1600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MY" sz="1600" b="1" dirty="0">
                <a:solidFill>
                  <a:srgbClr val="92D050"/>
                </a:solidFill>
                <a:latin typeface="Cascadia Code" panose="020B0509020204030204" pitchFamily="49" charset="0"/>
              </a:rPr>
              <a:t>AVG</a:t>
            </a:r>
            <a:r>
              <a:rPr lang="en-MY" sz="1600" dirty="0">
                <a:solidFill>
                  <a:schemeClr val="bg1"/>
                </a:solidFill>
                <a:latin typeface="Cascadia Code" panose="020B0509020204030204" pitchFamily="49" charset="0"/>
              </a:rPr>
              <a:t>(salary)&gt;8000;</a:t>
            </a:r>
            <a:endParaRPr lang="en-US" sz="1600" dirty="0">
              <a:solidFill>
                <a:schemeClr val="bg1"/>
              </a:solidFill>
              <a:latin typeface="Cascadia Code" panose="020B05090202040302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7B781B7-4AD2-4AC0-8AF8-4BB30E513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4108" y="3666418"/>
            <a:ext cx="3190506" cy="171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7014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E85C6-9868-4654-A6D4-5A26E7F17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42E40-5B13-4A94-BA91-49479915E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Number functions : </a:t>
            </a:r>
            <a:r>
              <a:rPr lang="en-US" b="1" dirty="0">
                <a:solidFill>
                  <a:srgbClr val="0070C0"/>
                </a:solidFill>
              </a:rPr>
              <a:t>ROUND, TRUNC, MOD</a:t>
            </a:r>
          </a:p>
          <a:p>
            <a:r>
              <a:rPr lang="en-US" dirty="0"/>
              <a:t>Aggregate functions : </a:t>
            </a:r>
            <a:r>
              <a:rPr lang="en-US" b="1" dirty="0">
                <a:solidFill>
                  <a:srgbClr val="0070C0"/>
                </a:solidFill>
              </a:rPr>
              <a:t>COUNT, MAX, MIN, AVG</a:t>
            </a:r>
          </a:p>
          <a:p>
            <a:r>
              <a:rPr lang="en-US" dirty="0"/>
              <a:t>Grouping data: </a:t>
            </a:r>
            <a:r>
              <a:rPr lang="en-US" b="1" dirty="0">
                <a:solidFill>
                  <a:srgbClr val="0070C0"/>
                </a:solidFill>
              </a:rPr>
              <a:t>GROUP BY</a:t>
            </a:r>
          </a:p>
          <a:p>
            <a:r>
              <a:rPr lang="en-US" dirty="0"/>
              <a:t>Group functions</a:t>
            </a:r>
          </a:p>
          <a:p>
            <a:r>
              <a:rPr lang="en-US" b="1" dirty="0">
                <a:solidFill>
                  <a:srgbClr val="0070C0"/>
                </a:solidFill>
              </a:rPr>
              <a:t>HAVING</a:t>
            </a:r>
            <a:r>
              <a:rPr lang="en-US" dirty="0"/>
              <a:t> : use with conditions for restricting group results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7FB2F-A0EB-4CE6-BE87-552CDD1D9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B2DA04C-B200-4D1D-B213-7A941F2F621A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4244E-D3A2-4167-B389-047A0DF75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9496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563D2-4A5C-4F68-9A7F-7DD363C8C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Simple Hand Written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3376A-E366-4503-859A-AF0A8A349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E4E7D7-8A73-4026-A5AE-893DD6F67810}" type="datetime5">
              <a:rPr lang="en-US" smtClean="0"/>
              <a:t>8-Dec-24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84A72F-2998-48B7-9DD4-CC3C4F74F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E0AC26EE-9695-4736-8542-579EA0D3DD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6753" y="1612062"/>
            <a:ext cx="5822106" cy="25643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9E5D35-D52F-405F-A0F6-5ECA71E33871}"/>
              </a:ext>
            </a:extLst>
          </p:cNvPr>
          <p:cNvSpPr txBox="1"/>
          <p:nvPr/>
        </p:nvSpPr>
        <p:spPr>
          <a:xfrm>
            <a:off x="628650" y="1360015"/>
            <a:ext cx="7886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600" dirty="0"/>
              <a:t>Given the following relation schemas, construct the SQL statement for following tasks: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F34B63-8A46-426F-BA62-29B7C8E582A3}"/>
              </a:ext>
            </a:extLst>
          </p:cNvPr>
          <p:cNvSpPr txBox="1"/>
          <p:nvPr/>
        </p:nvSpPr>
        <p:spPr>
          <a:xfrm>
            <a:off x="3041650" y="4079647"/>
            <a:ext cx="43119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>
                <a:solidFill>
                  <a:srgbClr val="FF0000"/>
                </a:solidFill>
              </a:rPr>
              <a:t>Schemas used in DML Question in Final Exam 2016/2017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521932-024D-41FF-9B16-2EA907147E51}"/>
              </a:ext>
            </a:extLst>
          </p:cNvPr>
          <p:cNvSpPr txBox="1"/>
          <p:nvPr/>
        </p:nvSpPr>
        <p:spPr>
          <a:xfrm>
            <a:off x="628650" y="4426582"/>
            <a:ext cx="78867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MY" sz="1600" dirty="0"/>
              <a:t>The SQL query below returns an error. Revise the SQL query.</a:t>
            </a:r>
            <a:br>
              <a:rPr lang="en-MY" sz="1600" dirty="0"/>
            </a:br>
            <a:r>
              <a:rPr lang="en-MY" sz="1600" b="1" dirty="0">
                <a:solidFill>
                  <a:srgbClr val="C00000"/>
                </a:solidFill>
              </a:rPr>
              <a:t>SELECT</a:t>
            </a:r>
            <a:r>
              <a:rPr lang="en-MY" sz="1600" dirty="0">
                <a:solidFill>
                  <a:srgbClr val="C00000"/>
                </a:solidFill>
              </a:rPr>
              <a:t> </a:t>
            </a:r>
            <a:r>
              <a:rPr lang="en-MY" sz="1600" dirty="0" err="1">
                <a:solidFill>
                  <a:srgbClr val="C00000"/>
                </a:solidFill>
              </a:rPr>
              <a:t>film_id</a:t>
            </a:r>
            <a:r>
              <a:rPr lang="en-MY" sz="1600" dirty="0">
                <a:solidFill>
                  <a:srgbClr val="C00000"/>
                </a:solidFill>
              </a:rPr>
              <a:t>, title AVG(</a:t>
            </a:r>
            <a:r>
              <a:rPr lang="en-MY" sz="1600" dirty="0" err="1">
                <a:solidFill>
                  <a:srgbClr val="C00000"/>
                </a:solidFill>
              </a:rPr>
              <a:t>rental_rate</a:t>
            </a:r>
            <a:r>
              <a:rPr lang="en-MY" sz="1600" dirty="0">
                <a:solidFill>
                  <a:srgbClr val="C00000"/>
                </a:solidFill>
              </a:rPr>
              <a:t>) </a:t>
            </a:r>
            <a:br>
              <a:rPr lang="en-MY" sz="1600" dirty="0">
                <a:solidFill>
                  <a:srgbClr val="C00000"/>
                </a:solidFill>
              </a:rPr>
            </a:br>
            <a:r>
              <a:rPr lang="en-MY" sz="1600" b="1" dirty="0">
                <a:solidFill>
                  <a:srgbClr val="C00000"/>
                </a:solidFill>
              </a:rPr>
              <a:t>FROM</a:t>
            </a:r>
            <a:r>
              <a:rPr lang="en-MY" sz="1600" dirty="0">
                <a:solidFill>
                  <a:srgbClr val="C00000"/>
                </a:solidFill>
              </a:rPr>
              <a:t> </a:t>
            </a:r>
            <a:r>
              <a:rPr lang="en-MY" sz="1600" b="1" dirty="0">
                <a:solidFill>
                  <a:srgbClr val="C00000"/>
                </a:solidFill>
              </a:rPr>
              <a:t>FILM</a:t>
            </a:r>
            <a:br>
              <a:rPr lang="en-MY" sz="1600" dirty="0">
                <a:solidFill>
                  <a:srgbClr val="C00000"/>
                </a:solidFill>
              </a:rPr>
            </a:br>
            <a:r>
              <a:rPr lang="en-MY" sz="1600" b="1" dirty="0">
                <a:solidFill>
                  <a:srgbClr val="C00000"/>
                </a:solidFill>
              </a:rPr>
              <a:t>WHERE</a:t>
            </a:r>
            <a:r>
              <a:rPr lang="en-MY" sz="1600" dirty="0">
                <a:solidFill>
                  <a:srgbClr val="C00000"/>
                </a:solidFill>
              </a:rPr>
              <a:t> </a:t>
            </a:r>
            <a:r>
              <a:rPr lang="en-MY" sz="1600" b="1" dirty="0">
                <a:solidFill>
                  <a:srgbClr val="C00000"/>
                </a:solidFill>
              </a:rPr>
              <a:t>AVG</a:t>
            </a:r>
            <a:r>
              <a:rPr lang="en-MY" sz="1600" dirty="0">
                <a:solidFill>
                  <a:srgbClr val="C00000"/>
                </a:solidFill>
              </a:rPr>
              <a:t>(</a:t>
            </a:r>
            <a:r>
              <a:rPr lang="en-MY" sz="1600" dirty="0" err="1">
                <a:solidFill>
                  <a:srgbClr val="C00000"/>
                </a:solidFill>
              </a:rPr>
              <a:t>rental_rate</a:t>
            </a:r>
            <a:r>
              <a:rPr lang="en-MY" sz="1600" dirty="0">
                <a:solidFill>
                  <a:srgbClr val="C00000"/>
                </a:solidFill>
              </a:rPr>
              <a:t>)&lt;50</a:t>
            </a:r>
            <a:br>
              <a:rPr lang="en-MY" sz="1600" dirty="0">
                <a:solidFill>
                  <a:srgbClr val="C00000"/>
                </a:solidFill>
              </a:rPr>
            </a:br>
            <a:r>
              <a:rPr lang="en-MY" sz="1600" b="1" dirty="0">
                <a:solidFill>
                  <a:srgbClr val="C00000"/>
                </a:solidFill>
              </a:rPr>
              <a:t>GROUP</a:t>
            </a:r>
            <a:r>
              <a:rPr lang="en-MY" sz="1600" dirty="0">
                <a:solidFill>
                  <a:srgbClr val="C00000"/>
                </a:solidFill>
              </a:rPr>
              <a:t> </a:t>
            </a:r>
            <a:r>
              <a:rPr lang="en-MY" sz="1600" b="1" dirty="0">
                <a:solidFill>
                  <a:srgbClr val="C00000"/>
                </a:solidFill>
              </a:rPr>
              <a:t>BY</a:t>
            </a:r>
            <a:r>
              <a:rPr lang="en-MY" sz="1600" dirty="0">
                <a:solidFill>
                  <a:srgbClr val="C00000"/>
                </a:solidFill>
              </a:rPr>
              <a:t> </a:t>
            </a:r>
            <a:r>
              <a:rPr lang="en-MY" sz="1600" dirty="0" err="1">
                <a:solidFill>
                  <a:srgbClr val="C00000"/>
                </a:solidFill>
              </a:rPr>
              <a:t>film_id</a:t>
            </a:r>
            <a:r>
              <a:rPr lang="en-MY" sz="1600" dirty="0">
                <a:solidFill>
                  <a:srgbClr val="C00000"/>
                </a:solidFill>
              </a:rPr>
              <a:t>;</a:t>
            </a:r>
          </a:p>
          <a:p>
            <a:pPr marL="342900" indent="-342900">
              <a:buFont typeface="+mj-lt"/>
              <a:buAutoNum type="arabicParenR"/>
            </a:pPr>
            <a:r>
              <a:rPr lang="en-MY" sz="1600" dirty="0"/>
              <a:t>List stores which has more than 100 inactive customer (the value in “active” attribute is either YES or NO)</a:t>
            </a:r>
          </a:p>
        </p:txBody>
      </p:sp>
    </p:spTree>
    <p:extLst>
      <p:ext uri="{BB962C8B-B14F-4D97-AF65-F5344CB8AC3E}">
        <p14:creationId xmlns:p14="http://schemas.microsoft.com/office/powerpoint/2010/main" val="37307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1946</TotalTime>
  <Words>2167</Words>
  <Application>Microsoft Office PowerPoint</Application>
  <PresentationFormat>On-screen Show (4:3)</PresentationFormat>
  <Paragraphs>334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Calibri</vt:lpstr>
      <vt:lpstr>Calibri Light</vt:lpstr>
      <vt:lpstr>Cascadia Code</vt:lpstr>
      <vt:lpstr>Constantia</vt:lpstr>
      <vt:lpstr>Courier New</vt:lpstr>
      <vt:lpstr>Wingdings 2</vt:lpstr>
      <vt:lpstr>Office Theme</vt:lpstr>
      <vt:lpstr>SQL: Data Manipulation Language (DML) Part 2</vt:lpstr>
      <vt:lpstr>Learning Objective</vt:lpstr>
      <vt:lpstr>Numeric Functions</vt:lpstr>
      <vt:lpstr>Using TRUNC (Oracle) / TRUNCATE (MySQL)</vt:lpstr>
      <vt:lpstr>Using ROUND</vt:lpstr>
      <vt:lpstr>Compare ROUND, TRUNCATE and normal</vt:lpstr>
      <vt:lpstr>Aggregate Functions</vt:lpstr>
      <vt:lpstr>Substitute NULL Values</vt:lpstr>
      <vt:lpstr>Substitute NULL Values</vt:lpstr>
      <vt:lpstr>Using IFNULL (MySQL)/ NVL (Oracle) </vt:lpstr>
      <vt:lpstr>UsingIFNULL (MySQL) / NVL (Oracle) </vt:lpstr>
      <vt:lpstr>Using the IFNULL function</vt:lpstr>
      <vt:lpstr>Using the IFNULL function</vt:lpstr>
      <vt:lpstr>Using IF (MySQL) / NVL2 (Oracle) </vt:lpstr>
      <vt:lpstr>Using IF (MySQL) / NVL2 (Oracle) </vt:lpstr>
      <vt:lpstr>Aggregate Functions</vt:lpstr>
      <vt:lpstr>Aggregate Functions</vt:lpstr>
      <vt:lpstr>Aggregate Functions</vt:lpstr>
      <vt:lpstr>Creating Groups of Data – GROUP BY</vt:lpstr>
      <vt:lpstr>Creating Groups of Data – GROUP BY</vt:lpstr>
      <vt:lpstr>Creating Groups of Data – GROUP BY</vt:lpstr>
      <vt:lpstr>Creating Groups of Data – GROUP BY</vt:lpstr>
      <vt:lpstr>Creating Groups of Data – GROUP BY</vt:lpstr>
      <vt:lpstr>Creating Groups of Data – GROUP BY</vt:lpstr>
      <vt:lpstr>Creating Groups of Data – GROUP BY</vt:lpstr>
      <vt:lpstr>Creating Groups of Data – GROUP BY</vt:lpstr>
      <vt:lpstr>Illegal Queries Using Group Functions</vt:lpstr>
      <vt:lpstr>Restricting Group Results with the HAVING Clause</vt:lpstr>
      <vt:lpstr>Restricting Group Results with the HAVING Clause</vt:lpstr>
      <vt:lpstr>Restricting Group Results with the HAVING Clause</vt:lpstr>
      <vt:lpstr>Summary</vt:lpstr>
      <vt:lpstr>Simple Hand Written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SQL: Data Manipulation Language (DML) Part 1 (ii)</dc:title>
  <dc:creator>NOR HAWANIAH ZAKARIA</dc:creator>
  <cp:lastModifiedBy>Iman Mohd Nizwan</cp:lastModifiedBy>
  <cp:revision>7</cp:revision>
  <dcterms:created xsi:type="dcterms:W3CDTF">2020-11-03T08:16:40Z</dcterms:created>
  <dcterms:modified xsi:type="dcterms:W3CDTF">2024-12-08T05:24:42Z</dcterms:modified>
</cp:coreProperties>
</file>