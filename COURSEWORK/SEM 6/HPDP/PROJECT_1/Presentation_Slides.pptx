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70" r:id="rId11"/>
    <p:sldId id="264" r:id="rId12"/>
    <p:sldId id="267" r:id="rId13"/>
    <p:sldId id="268" r:id="rId14"/>
    <p:sldId id="269" r:id="rId15"/>
    <p:sldId id="265" r:id="rId1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Gelasio" panose="020B0604020202020204" charset="0"/>
      <p:regular r:id="rId22"/>
    </p:embeddedFont>
    <p:embeddedFont>
      <p:font typeface="Gelasio Semi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65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266FA-F3CB-6853-1D17-CE67C3DA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1C6E9-F05D-5437-9F0D-E1627D93B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D8E23-144B-9F44-6EF2-FD369182C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4A5F-603D-0B92-EB57-8ABC93A45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5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E7CD-E310-1A15-9E25-474F8BCB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5C143-0624-910E-2E8E-B2765D3C1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6E566-F6DA-337D-3F17-DE2552DA1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A65EC-2100-697F-6BD7-77620C958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29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CCA48-8EF2-7B14-1A22-2F652E5F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30BD7-C31B-DBA8-9D30-121749E4E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DF56C-D5EF-8855-8F12-51D39F09B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9A333-A78B-44C9-0C60-3DDC1CBCE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3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0698B-A82F-652A-F9D2-902CA2FC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DDC36-498B-AF27-E16E-F3B0147DB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615AC-A106-28DB-9ABA-E1B8739FE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9632E-7D63-28A4-73EE-91D40431E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22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E571-76DD-56A1-433D-7B36684E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E1581-26C9-9A1E-472C-7C8A8DCCE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8B5F0-E90D-2583-0816-1EFA419E6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2DC14-DC20-1EDB-921E-58C8869A6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7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554361"/>
            <a:ext cx="3222575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596851"/>
            <a:ext cx="350966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SECP3133-01 · HIGH PERFORMANCE DATA PROCESSING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87746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Optimizing High Performance Data Processing for Large Scale Web Crawlers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97604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Lecturer: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Assoc. Prof. Mohd Shahizan Bin Othman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Iman Abadi (A23CS0084) · Mohamed Alif Fathi (A23CS0112) · Dheshieghan (A23CS0072)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E79CE-95F7-4DD9-2026-7446D02AA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385218"/>
            <a:ext cx="48374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Background &amp; Objectives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040806"/>
            <a:ext cx="2622724" cy="2050033"/>
          </a:xfrm>
          <a:prstGeom prst="roundRect">
            <a:avLst>
              <a:gd name="adj" fmla="val 1037"/>
            </a:avLst>
          </a:prstGeom>
          <a:solidFill>
            <a:srgbClr val="EEE8DD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1825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Target: BookXcess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489076"/>
            <a:ext cx="2339206" cy="1148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Malaysian online bookstore with a large catalog across genres. Crawler parses XML sitemap and fetches product data via public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endpoints.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40806"/>
            <a:ext cx="2622724" cy="2050033"/>
          </a:xfrm>
          <a:prstGeom prst="roundRect">
            <a:avLst>
              <a:gd name="adj" fmla="val 1037"/>
            </a:avLst>
          </a:prstGeom>
          <a:solidFill>
            <a:srgbClr val="EEE8DD"/>
          </a:solidFill>
          <a:ln/>
        </p:spPr>
      </p:sp>
      <p:sp>
        <p:nvSpPr>
          <p:cNvPr id="9" name="Text 7"/>
          <p:cNvSpPr/>
          <p:nvPr/>
        </p:nvSpPr>
        <p:spPr>
          <a:xfrm>
            <a:off x="3402360" y="21825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Objectives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489076"/>
            <a:ext cx="2339206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 100,000+ product records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and preprocess raw data with pandas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Benchmark Pandas, PyArrow, and Polars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040806"/>
            <a:ext cx="2622724" cy="2050033"/>
          </a:xfrm>
          <a:prstGeom prst="roundRect">
            <a:avLst>
              <a:gd name="adj" fmla="val 1037"/>
            </a:avLst>
          </a:prstGeom>
          <a:solidFill>
            <a:srgbClr val="EEE8DD"/>
          </a:solidFill>
          <a:ln/>
        </p:spPr>
      </p:sp>
      <p:sp>
        <p:nvSpPr>
          <p:cNvPr id="12" name="Text 10"/>
          <p:cNvSpPr/>
          <p:nvPr/>
        </p:nvSpPr>
        <p:spPr>
          <a:xfrm>
            <a:off x="6166842" y="21825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6842" y="248907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raw_data.csv: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154,714 rows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cleaned_data.csv: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147,558 rows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D806CD-CF62-99E2-6BB9-A8830FC01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92714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58341"/>
            <a:ext cx="343450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Pipeline Architecture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6119" y="4556671"/>
            <a:ext cx="8608963" cy="172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Four notebooks execute the pipeline: </a:t>
            </a:r>
            <a:r>
              <a:rPr lang="en-US" sz="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main_crawler.ipynb</a:t>
            </a: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clean_data.ipynb</a:t>
            </a: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optimize_pipeline.ipynb</a:t>
            </a: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r>
              <a:rPr lang="en-US" sz="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evaluation_charts.ipynb</a:t>
            </a: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C162F8-9F77-91FA-9255-589590A00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269" y="4486183"/>
            <a:ext cx="1606731" cy="6573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A16F-FD95-62E3-A983-A05AF992E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869" y="1227212"/>
            <a:ext cx="4584262" cy="311494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26012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15716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1915716"/>
            <a:ext cx="1858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HTTP &amp; Concurrency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2222227"/>
            <a:ext cx="3455715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curl_cffi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mimics browser handshakes to bypass anti-bot protections.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ThreadPoolExecutor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with 40 workers handles I/O-bound crawling.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15716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2092" y="19157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Parsing &amp; Cleaning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92092" y="2222227"/>
            <a:ext cx="3455789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BeautifulSoup + lxml extracts HTML/XML. Pandas,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unicodedata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organize and standardize data.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14762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658" y="3214762"/>
            <a:ext cx="25876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Optimization &amp; Measurement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7658" y="3521273"/>
            <a:ext cx="3455715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Polars and PyArrow benchmarked against Pandas.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psutil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tracks CPU and memory;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time.perf_counter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measures execution speed.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14762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92092" y="32147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92092" y="3521273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Matplotlib transforms benchmarking data into comparative charts across four performance metrics.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7FD8BB-6F11-C8B8-725F-AA2ECA54C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BF12-BE25-FF41-189D-9A75CE88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5B7BA8E-5182-4FCB-98BA-7A5DBC6E10C4}"/>
              </a:ext>
            </a:extLst>
          </p:cNvPr>
          <p:cNvSpPr/>
          <p:nvPr/>
        </p:nvSpPr>
        <p:spPr>
          <a:xfrm>
            <a:off x="496119" y="65731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Tools Used Diagram</a:t>
            </a:r>
            <a:endParaRPr lang="en-US" sz="2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4F89D5-AB34-D268-355C-6F3D7BF01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05F6272-139B-02FC-FCA0-2DFB5F63E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78040"/>
            <a:ext cx="5943600" cy="2219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12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534492"/>
            <a:ext cx="46782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Team &amp; Responsibilities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190080"/>
            <a:ext cx="2622724" cy="1751484"/>
          </a:xfrm>
          <a:prstGeom prst="roundRect">
            <a:avLst>
              <a:gd name="adj" fmla="val 5221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7069" y="2190080"/>
            <a:ext cx="76200" cy="175148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7" name="Text 5"/>
          <p:cNvSpPr/>
          <p:nvPr/>
        </p:nvSpPr>
        <p:spPr>
          <a:xfrm>
            <a:off x="714077" y="2350889"/>
            <a:ext cx="224395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Mohamed Alif Fathi — Group Leader &amp; Data Engineer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4077" y="3100313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Coordinated the team, built the crawler, and managed data ingestion and storage.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190080"/>
            <a:ext cx="2622724" cy="1751484"/>
          </a:xfrm>
          <a:prstGeom prst="roundRect">
            <a:avLst>
              <a:gd name="adj" fmla="val 5221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1551" y="2190080"/>
            <a:ext cx="76200" cy="175148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1" name="Text 9"/>
          <p:cNvSpPr/>
          <p:nvPr/>
        </p:nvSpPr>
        <p:spPr>
          <a:xfrm>
            <a:off x="3478560" y="2350889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Iman Abadi — HPC &amp; Performance Specialist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8560" y="2878857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Designed optimization benchmarks and produced comparison charts.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190080"/>
            <a:ext cx="2622724" cy="1751484"/>
          </a:xfrm>
          <a:prstGeom prst="roundRect">
            <a:avLst>
              <a:gd name="adj" fmla="val 5221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06033" y="2190080"/>
            <a:ext cx="76200" cy="175148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43042" y="2350889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Dheshieghan — Analyst &amp; Documentation Lead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43042" y="287885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Performed data cleaning and analysis and guided the report and slides.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6D00B3-3FF7-C686-07BA-BB812DD6B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264816"/>
            <a:ext cx="58197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Crawling Strategy &amp; Reliability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6216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Two-Phase Crawl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25378"/>
            <a:ext cx="3902943" cy="999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1 — Discovery: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Walk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/sitemap.xml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extract all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URLs, de-duplicate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2 — Scrape: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Append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URLs; fetch via 40-worker ThreadPoolExecutor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62163"/>
            <a:ext cx="22444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Reliability Measures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425378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Per-request jitter: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50–200 ms random delay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Retry logic: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Up to 3 retries with exponential backoff (1.5–3.5 s) for HTTP 429/500/502/503/504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Backup CSV: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Flush every 5,000 rows to prevent data loss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Failed URL recovery: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Re-scrape failures with half-sized worker pool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8DED08-7416-A43C-4743-7D48F86F1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823317"/>
            <a:ext cx="568456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Cleaning &amp; Transformation Steps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394222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1596703"/>
            <a:ext cx="4018434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689050"/>
            <a:ext cx="162512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Drop Missing Values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1957164"/>
            <a:ext cx="401843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 incomplete product records.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29373" y="1394222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9373" y="1596703"/>
            <a:ext cx="4018508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1" name="Text 9"/>
          <p:cNvSpPr/>
          <p:nvPr/>
        </p:nvSpPr>
        <p:spPr>
          <a:xfrm>
            <a:off x="4629373" y="1689050"/>
            <a:ext cx="1928664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Column Standardization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29373" y="1957164"/>
            <a:ext cx="4018508" cy="397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Rename to lowercase with underscores; drop redundant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column (all MYR).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119" y="2564978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119" y="2767459"/>
            <a:ext cx="4018434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285980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Date Formatting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6119" y="3127921"/>
            <a:ext cx="401843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Convert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datetime.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29373" y="2564978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9373" y="2767459"/>
            <a:ext cx="4018508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9" name="Text 17"/>
          <p:cNvSpPr/>
          <p:nvPr/>
        </p:nvSpPr>
        <p:spPr>
          <a:xfrm>
            <a:off x="4629373" y="285980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HTML Cleaning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29373" y="3127921"/>
            <a:ext cx="4018508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Strip tags from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body_html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→ plain text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119" y="3541812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744292"/>
            <a:ext cx="4018434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96119" y="3836640"/>
            <a:ext cx="2086868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Title &amp; Text Normalization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6119" y="4104754"/>
            <a:ext cx="4018434" cy="397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[Bargain Corner]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prefix; decode HTML entities; normalize Unicode; collapse whitespace.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29373" y="3541812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29373" y="3744292"/>
            <a:ext cx="4018508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7" name="Text 25"/>
          <p:cNvSpPr/>
          <p:nvPr/>
        </p:nvSpPr>
        <p:spPr>
          <a:xfrm>
            <a:off x="4629373" y="3836640"/>
            <a:ext cx="1894433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Validation &amp; Price Logic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29373" y="4104754"/>
            <a:ext cx="4018508" cy="40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 author/publisher names; drop rows where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compare_price &lt; current_price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or zero; calculate </a:t>
            </a:r>
            <a:r>
              <a:rPr lang="en-US" sz="10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5471C6A-31DD-3301-0AB4-F750E9C6D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828675"/>
            <a:ext cx="45208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Benchmark Operations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842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Six operations benchmarked across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Pandas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Polars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PyArrow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each run 3 times and averaged.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870546"/>
            <a:ext cx="4004965" cy="831131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012305"/>
            <a:ext cx="19681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1. Filter High Discount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318817"/>
            <a:ext cx="372144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 &gt; 70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current_price &lt; 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870546"/>
            <a:ext cx="4005039" cy="831131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2012305"/>
            <a:ext cx="18781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2. GroupBy Publisher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4601" y="2318817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Mean price, mean discount, title count per publisher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843436"/>
            <a:ext cx="4004965" cy="831131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29851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3. String Extract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291706"/>
            <a:ext cx="372144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Regex extract "RM" price tier from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843436"/>
            <a:ext cx="4005039" cy="831131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29851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4. Calculate Savings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291706"/>
            <a:ext cx="37215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Derive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savings_rm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savings_pct_check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816325"/>
            <a:ext cx="4004965" cy="831131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19" name="Text 17"/>
          <p:cNvSpPr/>
          <p:nvPr/>
        </p:nvSpPr>
        <p:spPr>
          <a:xfrm>
            <a:off x="637877" y="39580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5. Sort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7877" y="4264596"/>
            <a:ext cx="372144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(desc) and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current_price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(asc)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816325"/>
            <a:ext cx="4005039" cy="831131"/>
          </a:xfrm>
          <a:prstGeom prst="roundRect">
            <a:avLst>
              <a:gd name="adj" fmla="val 2559"/>
            </a:avLst>
          </a:prstGeom>
          <a:solidFill>
            <a:srgbClr val="EEE8DD"/>
          </a:solidFill>
          <a:ln/>
        </p:spPr>
      </p:sp>
      <p:sp>
        <p:nvSpPr>
          <p:cNvPr id="22" name="Text 20"/>
          <p:cNvSpPr/>
          <p:nvPr/>
        </p:nvSpPr>
        <p:spPr>
          <a:xfrm>
            <a:off x="4784601" y="39580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6. Top Authors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84601" y="4264596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20 authors by average discount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13C2A23-D9F2-0FC9-5FF1-DF11A1CC5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732512"/>
            <a:ext cx="1819529" cy="410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D70E-69D1-37E5-1663-4FF1DE99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CD8EE2F-C0FF-4DEC-8F98-E38CAA5E9BFA}"/>
              </a:ext>
            </a:extLst>
          </p:cNvPr>
          <p:cNvSpPr/>
          <p:nvPr/>
        </p:nvSpPr>
        <p:spPr>
          <a:xfrm>
            <a:off x="496119" y="846088"/>
            <a:ext cx="71179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cs typeface="Gelasio SemiBold" pitchFamily="34" charset="-120"/>
              </a:rPr>
              <a:t>Benchmarking Results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709B26-48E5-C5F3-23D5-F33DEEB43DE0}"/>
              </a:ext>
            </a:extLst>
          </p:cNvPr>
          <p:cNvSpPr/>
          <p:nvPr/>
        </p:nvSpPr>
        <p:spPr>
          <a:xfrm>
            <a:off x="496119" y="16534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9E6DBA6-E793-D2D8-FC0C-7740CF33D21D}"/>
              </a:ext>
            </a:extLst>
          </p:cNvPr>
          <p:cNvSpPr/>
          <p:nvPr/>
        </p:nvSpPr>
        <p:spPr>
          <a:xfrm>
            <a:off x="496119" y="2239181"/>
            <a:ext cx="5878555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Polars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consistently fastest — Rust-based, columnar, multi-threaded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PyArrow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slowest on Sort (0.183 s) — nearly 2× Pandas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Throughput: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Polars peaks at 28.5M rows/s (String Extract)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Memory: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Polars &amp; </a:t>
            </a:r>
            <a:r>
              <a:rPr lang="en-US" sz="110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PyArrow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slightly more efficient via columnar storage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CPU: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All under 18%; Polars most efficient at low usage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F74C3E-0F6B-2563-BBAA-D2DA3C9DA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4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846088"/>
            <a:ext cx="71179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Execution Time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749701" y="16434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006650"/>
            <a:ext cx="390294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3E3F8-5AA6-F161-3CA5-27B83326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133C13-F059-B28A-390B-9823A4B860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7901" y="1643435"/>
            <a:ext cx="594360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A85B-8DDD-BB56-DDDB-42DE3E3D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551132E-D73C-7A91-A31F-39E622815504}"/>
              </a:ext>
            </a:extLst>
          </p:cNvPr>
          <p:cNvSpPr/>
          <p:nvPr/>
        </p:nvSpPr>
        <p:spPr>
          <a:xfrm>
            <a:off x="496119" y="846088"/>
            <a:ext cx="71179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cs typeface="Gelasio SemiBold" pitchFamily="34" charset="-120"/>
              </a:rPr>
              <a:t>Memory Usage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9EF53C-B7F3-A7EC-3BB3-FF00C48628BB}"/>
              </a:ext>
            </a:extLst>
          </p:cNvPr>
          <p:cNvSpPr/>
          <p:nvPr/>
        </p:nvSpPr>
        <p:spPr>
          <a:xfrm>
            <a:off x="4749701" y="16434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953918-B006-EF0D-008A-251124E8A884}"/>
              </a:ext>
            </a:extLst>
          </p:cNvPr>
          <p:cNvSpPr/>
          <p:nvPr/>
        </p:nvSpPr>
        <p:spPr>
          <a:xfrm>
            <a:off x="4749701" y="2006650"/>
            <a:ext cx="390294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218721-B03C-9771-C6EA-3B64466D6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E12B06-453B-B814-5019-BA04BE64EC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1643435"/>
            <a:ext cx="59436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68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4E6B-5ED5-D00C-83BD-5CD8BC57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1E288C4-C4DF-DD68-1E52-EE188C3D2014}"/>
              </a:ext>
            </a:extLst>
          </p:cNvPr>
          <p:cNvSpPr/>
          <p:nvPr/>
        </p:nvSpPr>
        <p:spPr>
          <a:xfrm>
            <a:off x="496119" y="846088"/>
            <a:ext cx="71179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Throughput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F78C02-444A-B378-CC38-E8EF7F26E659}"/>
              </a:ext>
            </a:extLst>
          </p:cNvPr>
          <p:cNvSpPr/>
          <p:nvPr/>
        </p:nvSpPr>
        <p:spPr>
          <a:xfrm>
            <a:off x="4749701" y="16434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E0C9AA-0AFA-B000-7CB0-1D789C8654C4}"/>
              </a:ext>
            </a:extLst>
          </p:cNvPr>
          <p:cNvSpPr/>
          <p:nvPr/>
        </p:nvSpPr>
        <p:spPr>
          <a:xfrm>
            <a:off x="4749701" y="2006650"/>
            <a:ext cx="390294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76833C-059F-BF90-519D-FAD65E42C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61E61F-E757-D4CF-4134-B09D4D8DA4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77901" y="1643435"/>
            <a:ext cx="59436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94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7919-AB8A-6CC8-FE66-EBE3335D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B73076F-139C-BCCB-4FF2-13825C4A1922}"/>
              </a:ext>
            </a:extLst>
          </p:cNvPr>
          <p:cNvSpPr/>
          <p:nvPr/>
        </p:nvSpPr>
        <p:spPr>
          <a:xfrm>
            <a:off x="496119" y="846088"/>
            <a:ext cx="71179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cs typeface="Gelasio SemiBold" pitchFamily="34" charset="-120"/>
              </a:rPr>
              <a:t>CPU Usage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A033D4-2CC1-3545-1F33-FB337EA55037}"/>
              </a:ext>
            </a:extLst>
          </p:cNvPr>
          <p:cNvSpPr/>
          <p:nvPr/>
        </p:nvSpPr>
        <p:spPr>
          <a:xfrm>
            <a:off x="4749701" y="16434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4183A74-9CC7-7CFF-6109-0C7A1DA8C585}"/>
              </a:ext>
            </a:extLst>
          </p:cNvPr>
          <p:cNvSpPr/>
          <p:nvPr/>
        </p:nvSpPr>
        <p:spPr>
          <a:xfrm>
            <a:off x="4749701" y="2006650"/>
            <a:ext cx="390294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35451D-457B-DF89-896A-020A977E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95A797-9272-3A96-5E20-478BDB41DD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1643435"/>
            <a:ext cx="59436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31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111523"/>
            <a:ext cx="67966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Challenges, Findings &amp; Future Work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0887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272085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Mislabeled Shopify fields ("Product Type" = author)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Anti-bot &amp; CAPTCHA blocking automation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Noisy benchmarks required memory flush + 3-run averaging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4202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Summary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7834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154,714 → 147,558 clean records.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Polars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outperformed across all metrics.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7605" y="1767111"/>
            <a:ext cx="4107135" cy="2597497"/>
          </a:xfrm>
          <a:prstGeom prst="roundRect">
            <a:avLst>
              <a:gd name="adj" fmla="val 819"/>
            </a:avLst>
          </a:prstGeom>
          <a:solidFill>
            <a:srgbClr val="D3C5B6"/>
          </a:solidFill>
          <a:ln/>
        </p:spPr>
      </p:sp>
      <p:sp>
        <p:nvSpPr>
          <p:cNvPr id="10" name="Text 8"/>
          <p:cNvSpPr/>
          <p:nvPr/>
        </p:nvSpPr>
        <p:spPr>
          <a:xfrm>
            <a:off x="4789363" y="1908870"/>
            <a:ext cx="23825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Future Improvements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272085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Store in PostgreSQL / MongoDB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Parquet instead of CSV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Incremental crawling for new/updated products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Benchmark on 1M+ records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Power BI / Streamlit dashboard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8AEA03-B001-DD19-32B0-D5E96876A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71" y="4486183"/>
            <a:ext cx="1819529" cy="657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746</Words>
  <Application>Microsoft Office PowerPoint</Application>
  <PresentationFormat>On-screen Show (16:9)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Gelasio Light</vt:lpstr>
      <vt:lpstr>Gelasio</vt:lpstr>
      <vt:lpstr>Gelasio SemiBold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Iman</dc:creator>
  <cp:lastModifiedBy>Iman Abadi Mohd Nizwan</cp:lastModifiedBy>
  <cp:revision>3</cp:revision>
  <dcterms:created xsi:type="dcterms:W3CDTF">2026-05-25T14:34:33Z</dcterms:created>
  <dcterms:modified xsi:type="dcterms:W3CDTF">2026-05-25T15:05:32Z</dcterms:modified>
</cp:coreProperties>
</file>